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1" r:id="rId3"/>
    <p:sldId id="286" r:id="rId4"/>
    <p:sldId id="282" r:id="rId5"/>
    <p:sldId id="283" r:id="rId6"/>
    <p:sldId id="285" r:id="rId7"/>
    <p:sldId id="284" r:id="rId8"/>
    <p:sldId id="260" r:id="rId9"/>
    <p:sldId id="257" r:id="rId10"/>
    <p:sldId id="258" r:id="rId11"/>
    <p:sldId id="261" r:id="rId12"/>
    <p:sldId id="262" r:id="rId13"/>
    <p:sldId id="263" r:id="rId14"/>
    <p:sldId id="278" r:id="rId15"/>
    <p:sldId id="265" r:id="rId16"/>
    <p:sldId id="266" r:id="rId17"/>
    <p:sldId id="279" r:id="rId18"/>
    <p:sldId id="267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4" autoAdjust="0"/>
    <p:restoredTop sz="94624" autoAdjust="0"/>
  </p:normalViewPr>
  <p:slideViewPr>
    <p:cSldViewPr>
      <p:cViewPr>
        <p:scale>
          <a:sx n="67" d="100"/>
          <a:sy n="67" d="100"/>
        </p:scale>
        <p:origin x="-1829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5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F253E-C2DD-444F-BF98-DCFB445C7A17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A6CD2-D4A4-4412-88F2-62F79AAFB33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E9969-AEF3-458D-9D5A-51707431226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4000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24000"/>
            <a:lum bright="-5000"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99666-E41F-46BD-85C7-8FBB6EF1A554}" type="datetimeFigureOut">
              <a:rPr lang="en-US" smtClean="0"/>
              <a:pPr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A3C51-0C19-4DB5-B81E-D1E79F2EC4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 advTm="4000">
    <p:fade thruBlk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420889"/>
            <a:ext cx="8352928" cy="64579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Arial Black" pitchFamily="34" charset="0"/>
              </a:rPr>
              <a:t>M</a:t>
            </a:r>
            <a:r>
              <a:rPr lang="en-IN" sz="3600" b="1" dirty="0" smtClean="0">
                <a:latin typeface="Arial Black" pitchFamily="34" charset="0"/>
              </a:rPr>
              <a:t>ACHINE LEARNING &amp;</a:t>
            </a:r>
            <a:br>
              <a:rPr lang="en-IN" sz="3600" b="1" dirty="0" smtClean="0">
                <a:latin typeface="Arial Black" pitchFamily="34" charset="0"/>
              </a:rPr>
            </a:br>
            <a:r>
              <a:rPr lang="en-IN" sz="3600" b="1" dirty="0" smtClean="0">
                <a:latin typeface="Arial Black" pitchFamily="34" charset="0"/>
              </a:rPr>
              <a:t>ARTIFICIAL INTELLIGENCE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032" name="AutoShape 8" descr="Image result for NAHEP TRANSPARENT PNG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Image result for NAHEP TRANSPARENT PNG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Image result for NAHEP TRANSPARENT PNG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Image result for NAHEP TRANSPARENT PNG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0" y="5765194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cs typeface="Aharoni" pitchFamily="2" charset="-79"/>
              </a:rPr>
              <a:t>COLLEGE OF AGRICULTURAL ENGINEERING AND TECHNOLOGY</a:t>
            </a:r>
            <a:endParaRPr lang="en-US" sz="2000" b="1" dirty="0">
              <a:cs typeface="Aharoni" pitchFamily="2" charset="-79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342900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>
                <a:latin typeface="Arial Black" pitchFamily="34" charset="0"/>
              </a:rPr>
              <a:t>IN AGRICULTURE </a:t>
            </a:r>
            <a:endParaRPr lang="en-US" sz="2400" dirty="0">
              <a:latin typeface="Arial Black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721968" y="260648"/>
            <a:ext cx="7757412" cy="1582528"/>
            <a:chOff x="721968" y="260648"/>
            <a:chExt cx="7757412" cy="1582528"/>
          </a:xfrm>
        </p:grpSpPr>
        <p:grpSp>
          <p:nvGrpSpPr>
            <p:cNvPr id="23" name="Group 22"/>
            <p:cNvGrpSpPr/>
            <p:nvPr/>
          </p:nvGrpSpPr>
          <p:grpSpPr>
            <a:xfrm>
              <a:off x="721968" y="404664"/>
              <a:ext cx="7757412" cy="1151502"/>
              <a:chOff x="721968" y="404664"/>
              <a:chExt cx="7757412" cy="1151502"/>
            </a:xfrm>
          </p:grpSpPr>
          <p:pic>
            <p:nvPicPr>
              <p:cNvPr id="1030" name="Picture 6" descr="Image result for WORLD BANK PNG LOGO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156176" y="404664"/>
                <a:ext cx="2323204" cy="1151502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Image result for NAHEP TRANSPARENT PNG LOGO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21968" y="529098"/>
                <a:ext cx="2409872" cy="883678"/>
              </a:xfrm>
              <a:prstGeom prst="rect">
                <a:avLst/>
              </a:prstGeom>
              <a:noFill/>
            </p:spPr>
          </p:pic>
        </p:grpSp>
        <p:pic>
          <p:nvPicPr>
            <p:cNvPr id="24" name="Picture 2" descr="C:\Users\ABCD\Downloads\animated-ICAR-logo.gif"/>
            <p:cNvPicPr>
              <a:picLocks noChangeAspect="1" noChangeArrowheads="1" noCrop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42084" y="260648"/>
              <a:ext cx="2110036" cy="1582528"/>
            </a:xfrm>
            <a:prstGeom prst="rect">
              <a:avLst/>
            </a:prstGeom>
            <a:noFill/>
          </p:spPr>
        </p:pic>
      </p:grpSp>
      <p:pic>
        <p:nvPicPr>
          <p:cNvPr id="15" name="Picture 4" descr="Image result for jau png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39952" y="4004270"/>
            <a:ext cx="1131328" cy="1440954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C:\Users\ABCD\Downloads\1_I_ogxxyO8d_sgoOoCPh4xg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385" y="328656"/>
            <a:ext cx="8923230" cy="6196688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E8AA9BD-5B28-4BB1-803B-54BB6E1B0DE1}"/>
              </a:ext>
            </a:extLst>
          </p:cNvPr>
          <p:cNvSpPr txBox="1"/>
          <p:nvPr/>
        </p:nvSpPr>
        <p:spPr>
          <a:xfrm>
            <a:off x="0" y="274003"/>
            <a:ext cx="9144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Aharoni" pitchFamily="2" charset="-79"/>
              </a:rPr>
              <a:t>TECH CONSIDERATIONS</a:t>
            </a:r>
          </a:p>
          <a:p>
            <a:pPr algn="ctr"/>
            <a:r>
              <a:rPr lang="en-US" sz="2800" dirty="0" smtClean="0">
                <a:solidFill>
                  <a:srgbClr val="FF0000"/>
                </a:solidFill>
                <a:latin typeface="Tw Cen MT" panose="020B0602020104020603" pitchFamily="34" charset="0"/>
              </a:rPr>
              <a:t>The Python Libraries we considered using</a:t>
            </a:r>
            <a:endParaRPr lang="en-US" sz="280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grpSp>
        <p:nvGrpSpPr>
          <p:cNvPr id="2" name="Group 98"/>
          <p:cNvGrpSpPr/>
          <p:nvPr/>
        </p:nvGrpSpPr>
        <p:grpSpPr>
          <a:xfrm>
            <a:off x="416865" y="1700808"/>
            <a:ext cx="2426943" cy="1875213"/>
            <a:chOff x="416865" y="1700808"/>
            <a:chExt cx="2426943" cy="1875213"/>
          </a:xfrm>
        </p:grpSpPr>
        <p:grpSp>
          <p:nvGrpSpPr>
            <p:cNvPr id="3" name="Group 61">
              <a:extLst>
                <a:ext uri="{FF2B5EF4-FFF2-40B4-BE49-F238E27FC236}">
                  <a16:creationId xmlns="" xmlns:a16="http://schemas.microsoft.com/office/drawing/2014/main" id="{153F4246-CEED-4D1E-87E9-AF831143E541}"/>
                </a:ext>
              </a:extLst>
            </p:cNvPr>
            <p:cNvGrpSpPr/>
            <p:nvPr/>
          </p:nvGrpSpPr>
          <p:grpSpPr>
            <a:xfrm>
              <a:off x="1666426" y="2203263"/>
              <a:ext cx="741579" cy="707135"/>
              <a:chOff x="1666080" y="3059827"/>
              <a:chExt cx="988771" cy="707135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="" xmlns:a16="http://schemas.microsoft.com/office/drawing/2014/main" id="{802F08CF-D4D1-4A39-96BE-CB97F61D1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5655" y="3059827"/>
                <a:ext cx="519196" cy="707135"/>
              </a:xfrm>
              <a:prstGeom prst="line">
                <a:avLst/>
              </a:prstGeom>
              <a:ln>
                <a:solidFill>
                  <a:srgbClr val="EF30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="" xmlns:a16="http://schemas.microsoft.com/office/drawing/2014/main" id="{35920BBA-8F71-4702-91A3-44392F84AA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66080" y="3062208"/>
                <a:ext cx="471956" cy="0"/>
              </a:xfrm>
              <a:prstGeom prst="line">
                <a:avLst/>
              </a:prstGeom>
              <a:ln>
                <a:solidFill>
                  <a:srgbClr val="EF30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02">
              <a:extLst>
                <a:ext uri="{FF2B5EF4-FFF2-40B4-BE49-F238E27FC236}">
                  <a16:creationId xmlns="" xmlns:a16="http://schemas.microsoft.com/office/drawing/2014/main" id="{7D06F0A7-DAC2-4C40-B732-014C20C2F6D5}"/>
                </a:ext>
              </a:extLst>
            </p:cNvPr>
            <p:cNvGrpSpPr/>
            <p:nvPr/>
          </p:nvGrpSpPr>
          <p:grpSpPr>
            <a:xfrm>
              <a:off x="416865" y="1700808"/>
              <a:ext cx="1249856" cy="1026903"/>
              <a:chOff x="66260" y="2411599"/>
              <a:chExt cx="1666473" cy="1026903"/>
            </a:xfrm>
          </p:grpSpPr>
          <p:sp>
            <p:nvSpPr>
              <p:cNvPr id="75" name="TextBox 74">
                <a:extLst>
                  <a:ext uri="{FF2B5EF4-FFF2-40B4-BE49-F238E27FC236}">
                    <a16:creationId xmlns="" xmlns:a16="http://schemas.microsoft.com/office/drawing/2014/main" id="{FECAEFF9-14F9-420B-B81B-1A2D424B5A63}"/>
                  </a:ext>
                </a:extLst>
              </p:cNvPr>
              <p:cNvSpPr txBox="1"/>
              <p:nvPr/>
            </p:nvSpPr>
            <p:spPr>
              <a:xfrm>
                <a:off x="1007918" y="2411599"/>
                <a:ext cx="7248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400" b="1" dirty="0">
                    <a:solidFill>
                      <a:srgbClr val="EF3078"/>
                    </a:solidFill>
                    <a:latin typeface="Tw Cen MT" panose="020B0602020104020603" pitchFamily="34" charset="0"/>
                  </a:rPr>
                  <a:t>01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="" xmlns:a16="http://schemas.microsoft.com/office/drawing/2014/main" id="{2E7256DD-6317-492A-853D-B93DE998E24A}"/>
                  </a:ext>
                </a:extLst>
              </p:cNvPr>
              <p:cNvSpPr txBox="1"/>
              <p:nvPr/>
            </p:nvSpPr>
            <p:spPr>
              <a:xfrm>
                <a:off x="133833" y="2730616"/>
                <a:ext cx="15989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 smtClean="0">
                    <a:solidFill>
                      <a:srgbClr val="EF3078"/>
                    </a:solidFill>
                    <a:latin typeface="Tw Cen MT" panose="020B0602020104020603" pitchFamily="34" charset="0"/>
                  </a:rPr>
                  <a:t>Tensor Flow</a:t>
                </a:r>
                <a:endParaRPr lang="en-US" sz="2000" b="1" dirty="0">
                  <a:solidFill>
                    <a:srgbClr val="EF3078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="" xmlns:a16="http://schemas.microsoft.com/office/drawing/2014/main" id="{2574B3F8-38B1-4C77-944D-B357C5A8510F}"/>
                  </a:ext>
                </a:extLst>
              </p:cNvPr>
              <p:cNvSpPr txBox="1"/>
              <p:nvPr/>
            </p:nvSpPr>
            <p:spPr>
              <a:xfrm>
                <a:off x="66260" y="3032725"/>
                <a:ext cx="166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endParaRPr lang="en-US" dirty="0">
                  <a:solidFill>
                    <a:srgbClr val="A6A6A6"/>
                  </a:solidFill>
                  <a:latin typeface="Tw Cen MT" panose="020B0602020104020603" pitchFamily="34" charset="0"/>
                </a:endParaRPr>
              </a:p>
            </p:txBody>
          </p:sp>
        </p:grpSp>
        <p:pic>
          <p:nvPicPr>
            <p:cNvPr id="84" name="Picture 83" descr="2000px-TensorFlowLogo.svg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2889" y="2530347"/>
              <a:ext cx="940919" cy="1045674"/>
            </a:xfrm>
            <a:prstGeom prst="rect">
              <a:avLst/>
            </a:prstGeom>
          </p:spPr>
        </p:pic>
      </p:grpSp>
      <p:grpSp>
        <p:nvGrpSpPr>
          <p:cNvPr id="6" name="Group 68"/>
          <p:cNvGrpSpPr/>
          <p:nvPr/>
        </p:nvGrpSpPr>
        <p:grpSpPr>
          <a:xfrm>
            <a:off x="-108520" y="3812847"/>
            <a:ext cx="2948787" cy="2640489"/>
            <a:chOff x="511406" y="3929206"/>
            <a:chExt cx="2948787" cy="2640489"/>
          </a:xfrm>
        </p:grpSpPr>
        <p:cxnSp>
          <p:nvCxnSpPr>
            <p:cNvPr id="64" name="Straight Connector 63">
              <a:extLst>
                <a:ext uri="{FF2B5EF4-FFF2-40B4-BE49-F238E27FC236}">
                  <a16:creationId xmlns="" xmlns:a16="http://schemas.microsoft.com/office/drawing/2014/main" id="{C83C8BAA-87B2-4130-A6CA-1525D506B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3482" y="4872781"/>
              <a:ext cx="389397" cy="707135"/>
            </a:xfrm>
            <a:prstGeom prst="line">
              <a:avLst/>
            </a:prstGeom>
            <a:ln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103">
              <a:extLst>
                <a:ext uri="{FF2B5EF4-FFF2-40B4-BE49-F238E27FC236}">
                  <a16:creationId xmlns="" xmlns:a16="http://schemas.microsoft.com/office/drawing/2014/main" id="{12804901-3BC3-4B63-B57A-680C61064136}"/>
                </a:ext>
              </a:extLst>
            </p:cNvPr>
            <p:cNvGrpSpPr/>
            <p:nvPr/>
          </p:nvGrpSpPr>
          <p:grpSpPr>
            <a:xfrm>
              <a:off x="511406" y="5072732"/>
              <a:ext cx="1619672" cy="1496963"/>
              <a:chOff x="681874" y="5072730"/>
              <a:chExt cx="2159561" cy="1496963"/>
            </a:xfrm>
          </p:grpSpPr>
          <p:sp>
            <p:nvSpPr>
              <p:cNvPr id="78" name="TextBox 77">
                <a:extLst>
                  <a:ext uri="{FF2B5EF4-FFF2-40B4-BE49-F238E27FC236}">
                    <a16:creationId xmlns="" xmlns:a16="http://schemas.microsoft.com/office/drawing/2014/main" id="{3D4F678F-40B7-4440-9805-D7FF30FB7FC8}"/>
                  </a:ext>
                </a:extLst>
              </p:cNvPr>
              <p:cNvSpPr txBox="1"/>
              <p:nvPr/>
            </p:nvSpPr>
            <p:spPr>
              <a:xfrm>
                <a:off x="2103585" y="5072730"/>
                <a:ext cx="7248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400" dirty="0">
                    <a:solidFill>
                      <a:srgbClr val="EE9524"/>
                    </a:solidFill>
                    <a:latin typeface="Tw Cen MT" panose="020B0602020104020603" pitchFamily="34" charset="0"/>
                  </a:rPr>
                  <a:t>02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="" xmlns:a16="http://schemas.microsoft.com/office/drawing/2014/main" id="{E3B5B3C4-08D7-4F80-905A-16D436C0F2EA}"/>
                  </a:ext>
                </a:extLst>
              </p:cNvPr>
              <p:cNvSpPr txBox="1"/>
              <p:nvPr/>
            </p:nvSpPr>
            <p:spPr>
              <a:xfrm>
                <a:off x="681874" y="5369364"/>
                <a:ext cx="215956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400" b="1" dirty="0" smtClean="0">
                    <a:solidFill>
                      <a:srgbClr val="EE9524"/>
                    </a:solidFill>
                    <a:latin typeface="Tw Cen MT" panose="020B0602020104020603" pitchFamily="34" charset="0"/>
                  </a:rPr>
                  <a:t>Pandas and </a:t>
                </a:r>
                <a:r>
                  <a:rPr lang="en-US" sz="2400" b="1" dirty="0" err="1" smtClean="0">
                    <a:solidFill>
                      <a:srgbClr val="EE9524"/>
                    </a:solidFill>
                    <a:latin typeface="Tw Cen MT" panose="020B0602020104020603" pitchFamily="34" charset="0"/>
                  </a:rPr>
                  <a:t>Numpy</a:t>
                </a:r>
                <a:endParaRPr lang="en-US" sz="2400" b="1" dirty="0">
                  <a:solidFill>
                    <a:srgbClr val="EE9524"/>
                  </a:solidFill>
                  <a:latin typeface="Tw Cen MT" panose="020B0602020104020603" pitchFamily="34" charset="0"/>
                </a:endParaRPr>
              </a:p>
            </p:txBody>
          </p:sp>
        </p:grpSp>
        <p:pic>
          <p:nvPicPr>
            <p:cNvPr id="85" name="Picture 84" descr="opengraph-icon-200x200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0868" y="3929206"/>
              <a:ext cx="1059325" cy="1412433"/>
            </a:xfrm>
            <a:prstGeom prst="rect">
              <a:avLst/>
            </a:prstGeom>
          </p:spPr>
        </p:pic>
      </p:grpSp>
      <p:grpSp>
        <p:nvGrpSpPr>
          <p:cNvPr id="8" name="Group 58"/>
          <p:cNvGrpSpPr/>
          <p:nvPr/>
        </p:nvGrpSpPr>
        <p:grpSpPr>
          <a:xfrm>
            <a:off x="3099813" y="1685135"/>
            <a:ext cx="2192267" cy="2103905"/>
            <a:chOff x="2284036" y="1552263"/>
            <a:chExt cx="2192267" cy="2103905"/>
          </a:xfrm>
        </p:grpSpPr>
        <p:grpSp>
          <p:nvGrpSpPr>
            <p:cNvPr id="9" name="Group 104">
              <a:extLst>
                <a:ext uri="{FF2B5EF4-FFF2-40B4-BE49-F238E27FC236}">
                  <a16:creationId xmlns="" xmlns:a16="http://schemas.microsoft.com/office/drawing/2014/main" id="{B3BFFE84-C695-4D53-9EB1-6E3F023237F6}"/>
                </a:ext>
              </a:extLst>
            </p:cNvPr>
            <p:cNvGrpSpPr/>
            <p:nvPr/>
          </p:nvGrpSpPr>
          <p:grpSpPr>
            <a:xfrm>
              <a:off x="3324525" y="2054544"/>
              <a:ext cx="741579" cy="707135"/>
              <a:chOff x="4432701" y="2054542"/>
              <a:chExt cx="988771" cy="707135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="" xmlns:a16="http://schemas.microsoft.com/office/drawing/2014/main" id="{CDB6677B-8513-496A-A326-EDBAA2BA94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02276" y="2054542"/>
                <a:ext cx="519196" cy="707135"/>
              </a:xfrm>
              <a:prstGeom prst="line">
                <a:avLst/>
              </a:prstGeom>
              <a:ln>
                <a:solidFill>
                  <a:srgbClr val="03A1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="" xmlns:a16="http://schemas.microsoft.com/office/drawing/2014/main" id="{3003D7FC-94DB-4EDC-95C4-65A5F513B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32701" y="2056923"/>
                <a:ext cx="471956" cy="0"/>
              </a:xfrm>
              <a:prstGeom prst="line">
                <a:avLst/>
              </a:prstGeom>
              <a:ln>
                <a:solidFill>
                  <a:srgbClr val="03A1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105">
              <a:extLst>
                <a:ext uri="{FF2B5EF4-FFF2-40B4-BE49-F238E27FC236}">
                  <a16:creationId xmlns="" xmlns:a16="http://schemas.microsoft.com/office/drawing/2014/main" id="{D9DD4B7F-8A71-49A3-BC05-44E26D841E62}"/>
                </a:ext>
              </a:extLst>
            </p:cNvPr>
            <p:cNvGrpSpPr/>
            <p:nvPr/>
          </p:nvGrpSpPr>
          <p:grpSpPr>
            <a:xfrm>
              <a:off x="2284036" y="1552263"/>
              <a:ext cx="1040491" cy="780682"/>
              <a:chOff x="3045380" y="1552263"/>
              <a:chExt cx="1387320" cy="780682"/>
            </a:xfrm>
          </p:grpSpPr>
          <p:sp>
            <p:nvSpPr>
              <p:cNvPr id="81" name="TextBox 80">
                <a:extLst>
                  <a:ext uri="{FF2B5EF4-FFF2-40B4-BE49-F238E27FC236}">
                    <a16:creationId xmlns="" xmlns:a16="http://schemas.microsoft.com/office/drawing/2014/main" id="{C2359718-1C0E-45C6-99D0-A3CB1814E621}"/>
                  </a:ext>
                </a:extLst>
              </p:cNvPr>
              <p:cNvSpPr txBox="1"/>
              <p:nvPr/>
            </p:nvSpPr>
            <p:spPr>
              <a:xfrm>
                <a:off x="3707887" y="1552263"/>
                <a:ext cx="7248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400" b="1" dirty="0">
                    <a:solidFill>
                      <a:srgbClr val="03A1A4"/>
                    </a:solidFill>
                    <a:latin typeface="Tw Cen MT" panose="020B0602020104020603" pitchFamily="34" charset="0"/>
                  </a:rPr>
                  <a:t>03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="" xmlns:a16="http://schemas.microsoft.com/office/drawing/2014/main" id="{83347D2D-8F9E-424F-8379-EE81B97BB648}"/>
                  </a:ext>
                </a:extLst>
              </p:cNvPr>
              <p:cNvSpPr txBox="1"/>
              <p:nvPr/>
            </p:nvSpPr>
            <p:spPr>
              <a:xfrm>
                <a:off x="3045380" y="1871280"/>
                <a:ext cx="13873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400" b="1" dirty="0" err="1" smtClean="0">
                    <a:solidFill>
                      <a:srgbClr val="03A1A4"/>
                    </a:solidFill>
                    <a:latin typeface="Tw Cen MT" panose="020B0602020104020603" pitchFamily="34" charset="0"/>
                  </a:rPr>
                  <a:t>Keras</a:t>
                </a:r>
                <a:endParaRPr lang="en-US" sz="2400" b="1" dirty="0">
                  <a:solidFill>
                    <a:srgbClr val="03A1A4"/>
                  </a:solidFill>
                  <a:latin typeface="Tw Cen MT" panose="020B0602020104020603" pitchFamily="34" charset="0"/>
                </a:endParaRPr>
              </a:p>
            </p:txBody>
          </p:sp>
        </p:grpSp>
        <p:pic>
          <p:nvPicPr>
            <p:cNvPr id="86" name="Picture 85" descr="Kereas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10482" y="2656439"/>
              <a:ext cx="965821" cy="999729"/>
            </a:xfrm>
            <a:prstGeom prst="rect">
              <a:avLst/>
            </a:prstGeom>
          </p:spPr>
        </p:pic>
      </p:grpSp>
      <p:grpSp>
        <p:nvGrpSpPr>
          <p:cNvPr id="11" name="Group 61"/>
          <p:cNvGrpSpPr/>
          <p:nvPr/>
        </p:nvGrpSpPr>
        <p:grpSpPr>
          <a:xfrm>
            <a:off x="3203848" y="4344163"/>
            <a:ext cx="2543582" cy="1821141"/>
            <a:chOff x="4587011" y="2085926"/>
            <a:chExt cx="2543582" cy="1821141"/>
          </a:xfrm>
        </p:grpSpPr>
        <p:grpSp>
          <p:nvGrpSpPr>
            <p:cNvPr id="12" name="Group 71">
              <a:extLst>
                <a:ext uri="{FF2B5EF4-FFF2-40B4-BE49-F238E27FC236}">
                  <a16:creationId xmlns="" xmlns:a16="http://schemas.microsoft.com/office/drawing/2014/main" id="{B1ACE9A5-0AAC-4005-87FD-533CB273E3AF}"/>
                </a:ext>
              </a:extLst>
            </p:cNvPr>
            <p:cNvGrpSpPr/>
            <p:nvPr/>
          </p:nvGrpSpPr>
          <p:grpSpPr>
            <a:xfrm flipH="1">
              <a:off x="5223894" y="2609854"/>
              <a:ext cx="643508" cy="1297213"/>
              <a:chOff x="1976797" y="2950736"/>
              <a:chExt cx="459234" cy="694309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="" xmlns:a16="http://schemas.microsoft.com/office/drawing/2014/main" id="{BEBF1710-C0A2-443D-9E66-877BD8FA72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44671" y="2950736"/>
                <a:ext cx="191360" cy="694309"/>
              </a:xfrm>
              <a:prstGeom prst="line">
                <a:avLst/>
              </a:prstGeom>
              <a:ln>
                <a:solidFill>
                  <a:srgbClr val="3857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="" xmlns:a16="http://schemas.microsoft.com/office/drawing/2014/main" id="{D25F5471-E0F2-4736-A975-B0CD1D80AA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76797" y="2950736"/>
                <a:ext cx="267874" cy="0"/>
              </a:xfrm>
              <a:prstGeom prst="line">
                <a:avLst/>
              </a:prstGeom>
              <a:ln>
                <a:solidFill>
                  <a:srgbClr val="3857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06">
              <a:extLst>
                <a:ext uri="{FF2B5EF4-FFF2-40B4-BE49-F238E27FC236}">
                  <a16:creationId xmlns="" xmlns:a16="http://schemas.microsoft.com/office/drawing/2014/main" id="{4B33EF84-99D9-4E3D-98A7-243B4B204E8F}"/>
                </a:ext>
              </a:extLst>
            </p:cNvPr>
            <p:cNvGrpSpPr/>
            <p:nvPr/>
          </p:nvGrpSpPr>
          <p:grpSpPr>
            <a:xfrm>
              <a:off x="5880738" y="2085926"/>
              <a:ext cx="1249855" cy="1150767"/>
              <a:chOff x="7840984" y="2085925"/>
              <a:chExt cx="1666472" cy="1150767"/>
            </a:xfrm>
          </p:grpSpPr>
          <p:sp>
            <p:nvSpPr>
              <p:cNvPr id="93" name="TextBox 92">
                <a:extLst>
                  <a:ext uri="{FF2B5EF4-FFF2-40B4-BE49-F238E27FC236}">
                    <a16:creationId xmlns="" xmlns:a16="http://schemas.microsoft.com/office/drawing/2014/main" id="{3E41AE78-9E30-4CD4-9440-DE30C5519E6F}"/>
                  </a:ext>
                </a:extLst>
              </p:cNvPr>
              <p:cNvSpPr txBox="1"/>
              <p:nvPr/>
            </p:nvSpPr>
            <p:spPr>
              <a:xfrm>
                <a:off x="7840984" y="2085925"/>
                <a:ext cx="7248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385723"/>
                    </a:solidFill>
                    <a:latin typeface="Tw Cen MT" panose="020B0602020104020603" pitchFamily="34" charset="0"/>
                  </a:rPr>
                  <a:t>04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="" xmlns:a16="http://schemas.microsoft.com/office/drawing/2014/main" id="{DBF60901-7459-4FFF-BFAB-332F5872E18A}"/>
                  </a:ext>
                </a:extLst>
              </p:cNvPr>
              <p:cNvSpPr txBox="1"/>
              <p:nvPr/>
            </p:nvSpPr>
            <p:spPr>
              <a:xfrm>
                <a:off x="7846935" y="2405695"/>
                <a:ext cx="13873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 smtClean="0">
                    <a:solidFill>
                      <a:srgbClr val="385723"/>
                    </a:solidFill>
                    <a:latin typeface="Tw Cen MT" panose="020B0602020104020603" pitchFamily="34" charset="0"/>
                  </a:rPr>
                  <a:t>SciKit</a:t>
                </a:r>
                <a:r>
                  <a:rPr lang="en-US" sz="2400" dirty="0" smtClean="0">
                    <a:solidFill>
                      <a:srgbClr val="385723"/>
                    </a:solidFill>
                    <a:latin typeface="Tw Cen MT" panose="020B0602020104020603" pitchFamily="34" charset="0"/>
                  </a:rPr>
                  <a:t> Learn</a:t>
                </a:r>
                <a:endParaRPr lang="en-US" sz="2400" dirty="0">
                  <a:solidFill>
                    <a:srgbClr val="385723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="" xmlns:a16="http://schemas.microsoft.com/office/drawing/2014/main" id="{7989F52C-1D2B-46E2-A985-77707A7510FC}"/>
                  </a:ext>
                </a:extLst>
              </p:cNvPr>
              <p:cNvSpPr txBox="1"/>
              <p:nvPr/>
            </p:nvSpPr>
            <p:spPr>
              <a:xfrm>
                <a:off x="7840984" y="2707052"/>
                <a:ext cx="166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srgbClr val="A6A6A6"/>
                  </a:solidFill>
                  <a:latin typeface="Tw Cen MT" panose="020B0602020104020603" pitchFamily="34" charset="0"/>
                </a:endParaRPr>
              </a:p>
            </p:txBody>
          </p:sp>
        </p:grpSp>
        <p:pic>
          <p:nvPicPr>
            <p:cNvPr id="96" name="Picture 95" descr="scikit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7011" y="3014805"/>
              <a:ext cx="1150623" cy="869132"/>
            </a:xfrm>
            <a:prstGeom prst="rect">
              <a:avLst/>
            </a:prstGeom>
          </p:spPr>
        </p:pic>
      </p:grpSp>
      <p:grpSp>
        <p:nvGrpSpPr>
          <p:cNvPr id="14" name="Group 65"/>
          <p:cNvGrpSpPr/>
          <p:nvPr/>
        </p:nvGrpSpPr>
        <p:grpSpPr>
          <a:xfrm>
            <a:off x="5868144" y="2295273"/>
            <a:ext cx="3415054" cy="1672594"/>
            <a:chOff x="4694434" y="4591680"/>
            <a:chExt cx="3415054" cy="1672594"/>
          </a:xfrm>
        </p:grpSpPr>
        <p:grpSp>
          <p:nvGrpSpPr>
            <p:cNvPr id="15" name="Group 68">
              <a:extLst>
                <a:ext uri="{FF2B5EF4-FFF2-40B4-BE49-F238E27FC236}">
                  <a16:creationId xmlns="" xmlns:a16="http://schemas.microsoft.com/office/drawing/2014/main" id="{C6E9A218-B141-4BD3-841A-BAB462C9175B}"/>
                </a:ext>
              </a:extLst>
            </p:cNvPr>
            <p:cNvGrpSpPr/>
            <p:nvPr/>
          </p:nvGrpSpPr>
          <p:grpSpPr>
            <a:xfrm flipH="1" flipV="1">
              <a:off x="5646367" y="5286516"/>
              <a:ext cx="632243" cy="505342"/>
              <a:chOff x="2586555" y="3261620"/>
              <a:chExt cx="842993" cy="505342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="" xmlns:a16="http://schemas.microsoft.com/office/drawing/2014/main" id="{F7309261-EAF4-4065-B34C-74D63998B1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58512" y="3261620"/>
                <a:ext cx="371036" cy="505342"/>
              </a:xfrm>
              <a:prstGeom prst="line">
                <a:avLst/>
              </a:prstGeom>
              <a:ln>
                <a:solidFill>
                  <a:srgbClr val="03A1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="" xmlns:a16="http://schemas.microsoft.com/office/drawing/2014/main" id="{6F2BC3B5-DB71-4C84-AF89-1684458863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6555" y="3265029"/>
                <a:ext cx="471957" cy="0"/>
              </a:xfrm>
              <a:prstGeom prst="line">
                <a:avLst/>
              </a:prstGeom>
              <a:ln>
                <a:solidFill>
                  <a:srgbClr val="03A1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07">
              <a:extLst>
                <a:ext uri="{FF2B5EF4-FFF2-40B4-BE49-F238E27FC236}">
                  <a16:creationId xmlns="" xmlns:a16="http://schemas.microsoft.com/office/drawing/2014/main" id="{948E0E04-F6AD-4204-A734-B8A0EC1E885D}"/>
                </a:ext>
              </a:extLst>
            </p:cNvPr>
            <p:cNvGrpSpPr/>
            <p:nvPr/>
          </p:nvGrpSpPr>
          <p:grpSpPr>
            <a:xfrm>
              <a:off x="6350618" y="5273815"/>
              <a:ext cx="1758870" cy="990459"/>
              <a:chOff x="8467490" y="5273815"/>
              <a:chExt cx="2345158" cy="990459"/>
            </a:xfrm>
          </p:grpSpPr>
          <p:sp>
            <p:nvSpPr>
              <p:cNvPr id="90" name="TextBox 89">
                <a:extLst>
                  <a:ext uri="{FF2B5EF4-FFF2-40B4-BE49-F238E27FC236}">
                    <a16:creationId xmlns="" xmlns:a16="http://schemas.microsoft.com/office/drawing/2014/main" id="{4DD90853-2F30-480A-A4BC-AF61CA243D4E}"/>
                  </a:ext>
                </a:extLst>
              </p:cNvPr>
              <p:cNvSpPr txBox="1"/>
              <p:nvPr/>
            </p:nvSpPr>
            <p:spPr>
              <a:xfrm>
                <a:off x="8510763" y="5273815"/>
                <a:ext cx="7248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F0"/>
                    </a:solidFill>
                    <a:latin typeface="Tw Cen MT" panose="020B0602020104020603" pitchFamily="34" charset="0"/>
                  </a:rPr>
                  <a:t>05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="" xmlns:a16="http://schemas.microsoft.com/office/drawing/2014/main" id="{13DF5F7D-8517-4858-B26A-117AEF6AD00D}"/>
                  </a:ext>
                </a:extLst>
              </p:cNvPr>
              <p:cNvSpPr txBox="1"/>
              <p:nvPr/>
            </p:nvSpPr>
            <p:spPr>
              <a:xfrm>
                <a:off x="8467490" y="5593585"/>
                <a:ext cx="2071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 smtClean="0">
                    <a:solidFill>
                      <a:srgbClr val="00B0F0"/>
                    </a:solidFill>
                    <a:latin typeface="Tw Cen MT" panose="020B0602020104020603" pitchFamily="34" charset="0"/>
                  </a:rPr>
                  <a:t>MatplotLib</a:t>
                </a:r>
                <a:endParaRPr lang="en-US" sz="2400" dirty="0">
                  <a:solidFill>
                    <a:srgbClr val="00B0F0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="" xmlns:a16="http://schemas.microsoft.com/office/drawing/2014/main" id="{17A15540-6995-437A-A59D-F899A6BCCE03}"/>
                  </a:ext>
                </a:extLst>
              </p:cNvPr>
              <p:cNvSpPr txBox="1"/>
              <p:nvPr/>
            </p:nvSpPr>
            <p:spPr>
              <a:xfrm>
                <a:off x="9146176" y="5894942"/>
                <a:ext cx="166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srgbClr val="A6A6A6"/>
                  </a:solidFill>
                  <a:latin typeface="Tw Cen MT" panose="020B0602020104020603" pitchFamily="34" charset="0"/>
                </a:endParaRPr>
              </a:p>
            </p:txBody>
          </p:sp>
        </p:grpSp>
        <p:pic>
          <p:nvPicPr>
            <p:cNvPr id="97" name="Picture 96" descr="matplotlib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4434" y="4591680"/>
              <a:ext cx="2185988" cy="698500"/>
            </a:xfrm>
            <a:prstGeom prst="rect">
              <a:avLst/>
            </a:prstGeom>
          </p:spPr>
        </p:pic>
      </p:grpSp>
      <p:grpSp>
        <p:nvGrpSpPr>
          <p:cNvPr id="17" name="Group 62"/>
          <p:cNvGrpSpPr/>
          <p:nvPr/>
        </p:nvGrpSpPr>
        <p:grpSpPr>
          <a:xfrm>
            <a:off x="6300192" y="4335487"/>
            <a:ext cx="2555078" cy="2045841"/>
            <a:chOff x="6618916" y="2376776"/>
            <a:chExt cx="2555078" cy="2045841"/>
          </a:xfrm>
        </p:grpSpPr>
        <p:grpSp>
          <p:nvGrpSpPr>
            <p:cNvPr id="18" name="Group 65">
              <a:extLst>
                <a:ext uri="{FF2B5EF4-FFF2-40B4-BE49-F238E27FC236}">
                  <a16:creationId xmlns="" xmlns:a16="http://schemas.microsoft.com/office/drawing/2014/main" id="{D15C6488-0A8C-4F32-9A4D-7C308D3FB74D}"/>
                </a:ext>
              </a:extLst>
            </p:cNvPr>
            <p:cNvGrpSpPr/>
            <p:nvPr/>
          </p:nvGrpSpPr>
          <p:grpSpPr>
            <a:xfrm flipH="1">
              <a:off x="7141654" y="2705381"/>
              <a:ext cx="640223" cy="707135"/>
              <a:chOff x="1801222" y="3059827"/>
              <a:chExt cx="853629" cy="707135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="" xmlns:a16="http://schemas.microsoft.com/office/drawing/2014/main" id="{C8692D07-D0C2-4183-8694-C71EC431F9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5655" y="3059827"/>
                <a:ext cx="519196" cy="707135"/>
              </a:xfrm>
              <a:prstGeom prst="line">
                <a:avLst/>
              </a:prstGeom>
              <a:ln>
                <a:solidFill>
                  <a:srgbClr val="EF30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="" xmlns:a16="http://schemas.microsoft.com/office/drawing/2014/main" id="{DECBEC73-955A-442B-8836-D1923312FB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01222" y="3062208"/>
                <a:ext cx="336814" cy="0"/>
              </a:xfrm>
              <a:prstGeom prst="line">
                <a:avLst/>
              </a:prstGeom>
              <a:ln>
                <a:solidFill>
                  <a:srgbClr val="EF30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08">
              <a:extLst>
                <a:ext uri="{FF2B5EF4-FFF2-40B4-BE49-F238E27FC236}">
                  <a16:creationId xmlns="" xmlns:a16="http://schemas.microsoft.com/office/drawing/2014/main" id="{3FA3884F-7360-4A10-8B37-C166F2766294}"/>
                </a:ext>
              </a:extLst>
            </p:cNvPr>
            <p:cNvGrpSpPr/>
            <p:nvPr/>
          </p:nvGrpSpPr>
          <p:grpSpPr>
            <a:xfrm>
              <a:off x="7771044" y="2376776"/>
              <a:ext cx="1402950" cy="739244"/>
              <a:chOff x="10361391" y="2376775"/>
              <a:chExt cx="1870598" cy="739244"/>
            </a:xfrm>
          </p:grpSpPr>
          <p:sp>
            <p:nvSpPr>
              <p:cNvPr id="87" name="TextBox 86">
                <a:extLst>
                  <a:ext uri="{FF2B5EF4-FFF2-40B4-BE49-F238E27FC236}">
                    <a16:creationId xmlns="" xmlns:a16="http://schemas.microsoft.com/office/drawing/2014/main" id="{C44B1081-28BD-4723-93B6-B3D9F5525EC3}"/>
                  </a:ext>
                </a:extLst>
              </p:cNvPr>
              <p:cNvSpPr txBox="1"/>
              <p:nvPr/>
            </p:nvSpPr>
            <p:spPr>
              <a:xfrm>
                <a:off x="10405053" y="2376775"/>
                <a:ext cx="7248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EF3078"/>
                    </a:solidFill>
                    <a:latin typeface="Tw Cen MT" panose="020B0602020104020603" pitchFamily="34" charset="0"/>
                  </a:rPr>
                  <a:t>06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="" xmlns:a16="http://schemas.microsoft.com/office/drawing/2014/main" id="{CAF0DE8F-4E0D-400F-8691-13BC3C42218F}"/>
                  </a:ext>
                </a:extLst>
              </p:cNvPr>
              <p:cNvSpPr txBox="1"/>
              <p:nvPr/>
            </p:nvSpPr>
            <p:spPr>
              <a:xfrm>
                <a:off x="10361391" y="2654354"/>
                <a:ext cx="18705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 smtClean="0">
                    <a:solidFill>
                      <a:srgbClr val="EF3078"/>
                    </a:solidFill>
                    <a:latin typeface="Tw Cen MT" panose="020B0602020104020603" pitchFamily="34" charset="0"/>
                  </a:rPr>
                  <a:t>OpenCV</a:t>
                </a:r>
                <a:endParaRPr lang="en-US" sz="2400" dirty="0">
                  <a:solidFill>
                    <a:srgbClr val="EF3078"/>
                  </a:solidFill>
                  <a:latin typeface="Tw Cen MT" panose="020B0602020104020603" pitchFamily="34" charset="0"/>
                </a:endParaRPr>
              </a:p>
            </p:txBody>
          </p:sp>
        </p:grpSp>
        <p:pic>
          <p:nvPicPr>
            <p:cNvPr id="98" name="Picture 97" descr="1200px-OpenCV_Logo_with_text_svg_version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8916" y="2860895"/>
              <a:ext cx="950981" cy="1561722"/>
            </a:xfrm>
            <a:prstGeom prst="rect">
              <a:avLst/>
            </a:prstGeom>
          </p:spPr>
        </p:pic>
      </p:grpSp>
      <p:cxnSp>
        <p:nvCxnSpPr>
          <p:cNvPr id="72" name="Straight Connector 71">
            <a:extLst>
              <a:ext uri="{FF2B5EF4-FFF2-40B4-BE49-F238E27FC236}">
                <a16:creationId xmlns="" xmlns:a16="http://schemas.microsoft.com/office/drawing/2014/main" id="{018D836A-5994-457C-AD4E-4304A9FBB1F8}"/>
              </a:ext>
            </a:extLst>
          </p:cNvPr>
          <p:cNvCxnSpPr>
            <a:cxnSpLocks/>
          </p:cNvCxnSpPr>
          <p:nvPr/>
        </p:nvCxnSpPr>
        <p:spPr>
          <a:xfrm flipH="1" flipV="1">
            <a:off x="1501374" y="5445224"/>
            <a:ext cx="353967" cy="0"/>
          </a:xfrm>
          <a:prstGeom prst="line">
            <a:avLst/>
          </a:prstGeom>
          <a:ln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5199549"/>
      </p:ext>
    </p:extLst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/>
              <a:t>Application</a:t>
            </a: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" y="2132856"/>
            <a:ext cx="9144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Suggestion for crop  selection.</a:t>
            </a:r>
          </a:p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Detect problem, with land and </a:t>
            </a:r>
            <a:r>
              <a:rPr lang="en-IN" sz="2800" dirty="0" smtClean="0"/>
              <a:t>plants.</a:t>
            </a:r>
            <a:endParaRPr lang="en-IN" sz="2800" dirty="0" smtClean="0"/>
          </a:p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Suggestion for need of fertilizer, proper watering </a:t>
            </a:r>
            <a:r>
              <a:rPr lang="en-IN" sz="2800" dirty="0" smtClean="0"/>
              <a:t>system.</a:t>
            </a:r>
            <a:endParaRPr lang="en-IN" sz="2800" dirty="0" smtClean="0"/>
          </a:p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Location tracing and provide weather forecasting for particular </a:t>
            </a:r>
            <a:r>
              <a:rPr lang="en-IN" sz="2800" dirty="0" smtClean="0"/>
              <a:t>area</a:t>
            </a:r>
            <a:r>
              <a:rPr lang="en-US" sz="2800" dirty="0" smtClean="0"/>
              <a:t>.</a:t>
            </a:r>
          </a:p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Identify the various bacteria's ,bugs and vermin's.</a:t>
            </a:r>
          </a:p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Monitoring crop and soil health.</a:t>
            </a:r>
          </a:p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Precise amount of spraying.</a:t>
            </a:r>
          </a:p>
          <a:p>
            <a:pPr marL="271463" indent="-185738">
              <a:buFont typeface="Arial" pitchFamily="34" charset="0"/>
              <a:buChar char="•"/>
            </a:pPr>
            <a:r>
              <a:rPr lang="en-IN" sz="2800" dirty="0" smtClean="0"/>
              <a:t>Analysis of different agricultural sensor data.</a:t>
            </a:r>
          </a:p>
          <a:p>
            <a:pPr marL="271463" indent="-185738"/>
            <a:endParaRPr lang="en-IN" sz="2800" dirty="0" smtClean="0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Image result for supervised learning and unsupervised learn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58" y="1700808"/>
            <a:ext cx="9132442" cy="383116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0" y="54868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/>
              <a:t>Algorithms  of AI</a:t>
            </a:r>
            <a:endParaRPr lang="en-US" sz="2800" b="1" dirty="0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Image result for supervised learn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92138"/>
            <a:ext cx="8747434" cy="446911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771800" y="476672"/>
            <a:ext cx="3244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Supervised Learning</a:t>
            </a:r>
            <a:endParaRPr lang="en-US" sz="2800" b="1" dirty="0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600" y="1323098"/>
            <a:ext cx="5584712" cy="432048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771800" y="476672"/>
            <a:ext cx="3589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Unsupervised Learning</a:t>
            </a:r>
            <a:endParaRPr 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851920" y="5733256"/>
            <a:ext cx="1463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Clustering</a:t>
            </a:r>
            <a:endParaRPr lang="en-US" sz="2400" b="1" dirty="0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6806" y="1179494"/>
            <a:ext cx="3673146" cy="2321514"/>
          </a:xfrm>
          <a:prstGeom prst="rect">
            <a:avLst/>
          </a:prstGeom>
        </p:spPr>
      </p:pic>
      <p:pic>
        <p:nvPicPr>
          <p:cNvPr id="8" name="Picture 7" descr="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32570" y="1179846"/>
            <a:ext cx="4231918" cy="2321162"/>
          </a:xfrm>
          <a:prstGeom prst="rect">
            <a:avLst/>
          </a:prstGeom>
        </p:spPr>
      </p:pic>
      <p:pic>
        <p:nvPicPr>
          <p:cNvPr id="9" name="Picture 8" descr="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3789040"/>
            <a:ext cx="3790404" cy="2810972"/>
          </a:xfrm>
          <a:prstGeom prst="rect">
            <a:avLst/>
          </a:prstGeom>
        </p:spPr>
      </p:pic>
      <p:pic>
        <p:nvPicPr>
          <p:cNvPr id="10" name="Picture 9" descr="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88024" y="3738416"/>
            <a:ext cx="4104456" cy="2858936"/>
          </a:xfrm>
          <a:prstGeom prst="rect">
            <a:avLst/>
          </a:prstGeom>
        </p:spPr>
      </p:pic>
      <p:sp>
        <p:nvSpPr>
          <p:cNvPr id="6" name="Notched Right Arrow 5"/>
          <p:cNvSpPr/>
          <p:nvPr/>
        </p:nvSpPr>
        <p:spPr>
          <a:xfrm>
            <a:off x="4211960" y="2132856"/>
            <a:ext cx="461752" cy="37946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otched Right Arrow 10"/>
          <p:cNvSpPr/>
          <p:nvPr/>
        </p:nvSpPr>
        <p:spPr>
          <a:xfrm>
            <a:off x="4254264" y="4921744"/>
            <a:ext cx="461752" cy="37946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0" y="26064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/>
              <a:t>Image Classification</a:t>
            </a:r>
            <a:endParaRPr lang="en-US" sz="2800" b="1" dirty="0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44"/>
            <a:ext cx="9144000" cy="2160240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latin typeface="Andalus" pitchFamily="18" charset="-78"/>
                <a:cs typeface="Andalus" pitchFamily="18" charset="-78"/>
              </a:rPr>
              <a:t>Practical projects</a:t>
            </a:r>
            <a:br>
              <a:rPr lang="en-IN" sz="3200" b="1" dirty="0" smtClean="0">
                <a:latin typeface="Andalus" pitchFamily="18" charset="-78"/>
                <a:cs typeface="Andalus" pitchFamily="18" charset="-78"/>
              </a:rPr>
            </a:br>
            <a:r>
              <a:rPr lang="en-IN" sz="3200" b="1" dirty="0" smtClean="0">
                <a:latin typeface="Andalus" pitchFamily="18" charset="-78"/>
                <a:cs typeface="Andalus" pitchFamily="18" charset="-78"/>
              </a:rPr>
              <a:t>based on Artificial Intelligence </a:t>
            </a:r>
            <a:br>
              <a:rPr lang="en-IN" sz="3200" b="1" dirty="0" smtClean="0">
                <a:latin typeface="Andalus" pitchFamily="18" charset="-78"/>
                <a:cs typeface="Andalus" pitchFamily="18" charset="-78"/>
              </a:rPr>
            </a:br>
            <a:r>
              <a:rPr lang="en-IN" sz="3200" b="1" dirty="0" smtClean="0">
                <a:latin typeface="Andalus" pitchFamily="18" charset="-78"/>
                <a:cs typeface="Andalus" pitchFamily="18" charset="-78"/>
              </a:rPr>
              <a:t>which are made by</a:t>
            </a:r>
            <a:br>
              <a:rPr lang="en-IN" sz="3200" b="1" dirty="0" smtClean="0">
                <a:latin typeface="Andalus" pitchFamily="18" charset="-78"/>
                <a:cs typeface="Andalus" pitchFamily="18" charset="-78"/>
              </a:rPr>
            </a:br>
            <a:r>
              <a:rPr lang="en-IN" sz="3200" b="1" dirty="0" smtClean="0">
                <a:latin typeface="Andalus" pitchFamily="18" charset="-78"/>
                <a:cs typeface="Andalus" pitchFamily="18" charset="-78"/>
              </a:rPr>
              <a:t>students of </a:t>
            </a:r>
            <a:endParaRPr lang="en-US" sz="3600" dirty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3573016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  <a:cs typeface="Aharoni" pitchFamily="2" charset="-79"/>
              </a:rPr>
              <a:t>COLLEGE OF AGRICULTURAL ENGINEERING AND TECHNOLOGY</a:t>
            </a:r>
            <a:endParaRPr lang="en-US" sz="2000" b="1" dirty="0">
              <a:solidFill>
                <a:srgbClr val="FF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7D884BCA-1978-49CC-8588-5399D7CABDE7}"/>
              </a:ext>
            </a:extLst>
          </p:cNvPr>
          <p:cNvGrpSpPr/>
          <p:nvPr/>
        </p:nvGrpSpPr>
        <p:grpSpPr>
          <a:xfrm>
            <a:off x="4025695" y="5326732"/>
            <a:ext cx="1049221" cy="190500"/>
            <a:chOff x="4679586" y="878988"/>
            <a:chExt cx="1398961" cy="19050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3701A590-ABA9-4BD2-BD64-376A4C227798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3E53B434-A2A6-4C16-99DD-292CE4FD62C4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F3E5BC96-17A2-4BD5-BA51-10270687E851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1A06ACCC-548D-4873-BD3B-AD3CA2C095B0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7CBDE4C1-DAF9-476F-B807-27BE954F6C82}"/>
                </a:ext>
              </a:extLst>
            </p:cNvPr>
            <p:cNvSpPr/>
            <p:nvPr/>
          </p:nvSpPr>
          <p:spPr>
            <a:xfrm>
              <a:off x="5888047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="" xmlns:a16="http://schemas.microsoft.com/office/drawing/2014/main" id="{1FB1D66C-A675-4E89-AF22-1BE0E407A08D}"/>
              </a:ext>
            </a:extLst>
          </p:cNvPr>
          <p:cNvCxnSpPr>
            <a:cxnSpLocks/>
          </p:cNvCxnSpPr>
          <p:nvPr/>
        </p:nvCxnSpPr>
        <p:spPr>
          <a:xfrm flipV="1">
            <a:off x="4025694" y="4061711"/>
            <a:ext cx="1182905" cy="1136471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="" xmlns:a16="http://schemas.microsoft.com/office/drawing/2014/main" id="{DEAAD18D-A529-426E-944F-052FEF1F7315}"/>
              </a:ext>
            </a:extLst>
          </p:cNvPr>
          <p:cNvCxnSpPr>
            <a:cxnSpLocks/>
          </p:cNvCxnSpPr>
          <p:nvPr/>
        </p:nvCxnSpPr>
        <p:spPr>
          <a:xfrm flipH="1" flipV="1">
            <a:off x="5235499" y="3992713"/>
            <a:ext cx="1351231" cy="991370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4B210092-D838-4687-B1B3-0C0F54FFBBB7}"/>
              </a:ext>
            </a:extLst>
          </p:cNvPr>
          <p:cNvCxnSpPr>
            <a:cxnSpLocks/>
          </p:cNvCxnSpPr>
          <p:nvPr/>
        </p:nvCxnSpPr>
        <p:spPr>
          <a:xfrm flipV="1">
            <a:off x="6704457" y="3789896"/>
            <a:ext cx="1260377" cy="1101747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F6D1B375-3CBB-4F31-BF6F-2530FCADC84D}"/>
              </a:ext>
            </a:extLst>
          </p:cNvPr>
          <p:cNvCxnSpPr>
            <a:cxnSpLocks/>
          </p:cNvCxnSpPr>
          <p:nvPr/>
        </p:nvCxnSpPr>
        <p:spPr>
          <a:xfrm flipH="1" flipV="1">
            <a:off x="2666385" y="4315879"/>
            <a:ext cx="1282369" cy="882300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C5F893E3-9E92-4678-BAE1-ABE84AFE8FA3}"/>
              </a:ext>
            </a:extLst>
          </p:cNvPr>
          <p:cNvCxnSpPr>
            <a:cxnSpLocks/>
          </p:cNvCxnSpPr>
          <p:nvPr/>
        </p:nvCxnSpPr>
        <p:spPr>
          <a:xfrm flipV="1">
            <a:off x="1116075" y="4236154"/>
            <a:ext cx="1334168" cy="962027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E8AA9BD-5B28-4BB1-803B-54BB6E1B0DE1}"/>
              </a:ext>
            </a:extLst>
          </p:cNvPr>
          <p:cNvSpPr txBox="1"/>
          <p:nvPr/>
        </p:nvSpPr>
        <p:spPr>
          <a:xfrm>
            <a:off x="0" y="54229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Aharoni" pitchFamily="2" charset="-79"/>
              </a:rPr>
              <a:t>THE WAY THINGS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Aharoni" pitchFamily="2" charset="-79"/>
              </a:rPr>
              <a:t>WORKED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cs typeface="Aharoni" pitchFamily="2" charset="-79"/>
            </a:endParaRP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w Cen MT" panose="020B0602020104020603" pitchFamily="34" charset="0"/>
              </a:rPr>
              <a:t>A Project Pipeline</a:t>
            </a:r>
          </a:p>
          <a:p>
            <a:pPr algn="ctr"/>
            <a:endParaRPr lang="en-US" sz="14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  <a:p>
            <a:pPr algn="ctr"/>
            <a:endParaRPr lang="en-US" sz="14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7D884BCA-1978-49CC-8588-5399D7CABDE7}"/>
              </a:ext>
            </a:extLst>
          </p:cNvPr>
          <p:cNvGrpSpPr/>
          <p:nvPr/>
        </p:nvGrpSpPr>
        <p:grpSpPr>
          <a:xfrm>
            <a:off x="4025695" y="1772816"/>
            <a:ext cx="1049221" cy="190500"/>
            <a:chOff x="4679586" y="878988"/>
            <a:chExt cx="1398961" cy="19050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3701A590-ABA9-4BD2-BD64-376A4C227798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3E53B434-A2A6-4C16-99DD-292CE4FD62C4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F3E5BC96-17A2-4BD5-BA51-10270687E851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1A06ACCC-548D-4873-BD3B-AD3CA2C095B0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7CBDE4C1-DAF9-476F-B807-27BE954F6C82}"/>
                </a:ext>
              </a:extLst>
            </p:cNvPr>
            <p:cNvSpPr/>
            <p:nvPr/>
          </p:nvSpPr>
          <p:spPr>
            <a:xfrm>
              <a:off x="5888047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Oval 1">
            <a:extLst>
              <a:ext uri="{FF2B5EF4-FFF2-40B4-BE49-F238E27FC236}">
                <a16:creationId xmlns="" xmlns:a16="http://schemas.microsoft.com/office/drawing/2014/main" id="{555FC8F4-43EE-43E4-BBBC-49434B3A520A}"/>
              </a:ext>
            </a:extLst>
          </p:cNvPr>
          <p:cNvSpPr/>
          <p:nvPr/>
        </p:nvSpPr>
        <p:spPr>
          <a:xfrm>
            <a:off x="841585" y="4930251"/>
            <a:ext cx="441360" cy="588480"/>
          </a:xfrm>
          <a:prstGeom prst="ellipse">
            <a:avLst/>
          </a:prstGeom>
          <a:solidFill>
            <a:srgbClr val="EF3078"/>
          </a:solidFill>
          <a:ln>
            <a:noFill/>
          </a:ln>
          <a:effectLst>
            <a:outerShdw blurRad="762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C20B305-6275-48E1-8946-A32347CB376F}"/>
              </a:ext>
            </a:extLst>
          </p:cNvPr>
          <p:cNvSpPr txBox="1"/>
          <p:nvPr/>
        </p:nvSpPr>
        <p:spPr>
          <a:xfrm>
            <a:off x="918527" y="4901327"/>
            <a:ext cx="287477" cy="646331"/>
          </a:xfrm>
          <a:prstGeom prst="rect">
            <a:avLst/>
          </a:prstGeom>
          <a:noFill/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3E3E3"/>
                </a:solidFill>
                <a:latin typeface="Tw Cen MT" panose="020B0602020104020603" pitchFamily="34" charset="0"/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BE4AD99A-076B-4B78-BBFD-38BC498DCCBC}"/>
              </a:ext>
            </a:extLst>
          </p:cNvPr>
          <p:cNvSpPr/>
          <p:nvPr/>
        </p:nvSpPr>
        <p:spPr>
          <a:xfrm>
            <a:off x="2286836" y="3941913"/>
            <a:ext cx="441360" cy="588480"/>
          </a:xfrm>
          <a:prstGeom prst="ellipse">
            <a:avLst/>
          </a:prstGeom>
          <a:solidFill>
            <a:srgbClr val="03A1A4"/>
          </a:solidFill>
          <a:ln>
            <a:noFill/>
          </a:ln>
          <a:effectLst>
            <a:outerShdw blurRad="762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A6BC045-9DFF-42FD-8C36-FC34502A7320}"/>
              </a:ext>
            </a:extLst>
          </p:cNvPr>
          <p:cNvSpPr txBox="1"/>
          <p:nvPr/>
        </p:nvSpPr>
        <p:spPr>
          <a:xfrm>
            <a:off x="2363778" y="3912989"/>
            <a:ext cx="287477" cy="646331"/>
          </a:xfrm>
          <a:prstGeom prst="rect">
            <a:avLst/>
          </a:prstGeom>
          <a:noFill/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3E3E3"/>
                </a:solidFill>
                <a:latin typeface="Tw Cen MT" panose="020B0602020104020603" pitchFamily="34" charset="0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D32467DC-68B2-4A06-97DB-38EF79A869C1}"/>
              </a:ext>
            </a:extLst>
          </p:cNvPr>
          <p:cNvSpPr/>
          <p:nvPr/>
        </p:nvSpPr>
        <p:spPr>
          <a:xfrm>
            <a:off x="3751405" y="4891641"/>
            <a:ext cx="441360" cy="588480"/>
          </a:xfrm>
          <a:prstGeom prst="ellipse">
            <a:avLst/>
          </a:prstGeom>
          <a:solidFill>
            <a:srgbClr val="EE9524"/>
          </a:solidFill>
          <a:ln>
            <a:noFill/>
          </a:ln>
          <a:effectLst>
            <a:outerShdw blurRad="762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9EAAEBB-9149-4D8C-85F9-C700A4FAC1A9}"/>
              </a:ext>
            </a:extLst>
          </p:cNvPr>
          <p:cNvSpPr txBox="1"/>
          <p:nvPr/>
        </p:nvSpPr>
        <p:spPr>
          <a:xfrm>
            <a:off x="3828347" y="4862717"/>
            <a:ext cx="287477" cy="646331"/>
          </a:xfrm>
          <a:prstGeom prst="rect">
            <a:avLst/>
          </a:prstGeom>
          <a:noFill/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3E3E3"/>
                </a:solidFill>
                <a:latin typeface="Tw Cen MT" panose="020B0602020104020603" pitchFamily="34" charset="0"/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FFCACAA9-3503-46C8-A54E-799F4E9E55B9}"/>
              </a:ext>
            </a:extLst>
          </p:cNvPr>
          <p:cNvSpPr/>
          <p:nvPr/>
        </p:nvSpPr>
        <p:spPr>
          <a:xfrm>
            <a:off x="5031505" y="3698473"/>
            <a:ext cx="441360" cy="588480"/>
          </a:xfrm>
          <a:prstGeom prst="ellipse">
            <a:avLst/>
          </a:prstGeom>
          <a:solidFill>
            <a:srgbClr val="385723"/>
          </a:solidFill>
          <a:ln>
            <a:noFill/>
          </a:ln>
          <a:effectLst>
            <a:outerShdw blurRad="762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F7E7550-521F-446A-9A97-DDE94285DD11}"/>
              </a:ext>
            </a:extLst>
          </p:cNvPr>
          <p:cNvSpPr txBox="1"/>
          <p:nvPr/>
        </p:nvSpPr>
        <p:spPr>
          <a:xfrm>
            <a:off x="5108231" y="3669549"/>
            <a:ext cx="287477" cy="646331"/>
          </a:xfrm>
          <a:prstGeom prst="rect">
            <a:avLst/>
          </a:prstGeom>
          <a:noFill/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3E3E3"/>
                </a:solidFill>
                <a:latin typeface="Tw Cen MT" panose="020B0602020104020603" pitchFamily="34" charset="0"/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C240C0D5-51C5-4820-AB34-E16D404339B2}"/>
              </a:ext>
            </a:extLst>
          </p:cNvPr>
          <p:cNvSpPr/>
          <p:nvPr/>
        </p:nvSpPr>
        <p:spPr>
          <a:xfrm>
            <a:off x="6391501" y="4689844"/>
            <a:ext cx="441360" cy="58848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762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B4BDCDBB-2F71-487A-93F9-6F048B528A22}"/>
              </a:ext>
            </a:extLst>
          </p:cNvPr>
          <p:cNvSpPr txBox="1"/>
          <p:nvPr/>
        </p:nvSpPr>
        <p:spPr>
          <a:xfrm>
            <a:off x="6468444" y="4660920"/>
            <a:ext cx="287477" cy="646331"/>
          </a:xfrm>
          <a:prstGeom prst="rect">
            <a:avLst/>
          </a:prstGeom>
          <a:noFill/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3E3E3"/>
                </a:solidFill>
                <a:latin typeface="Tw Cen MT" panose="020B0602020104020603" pitchFamily="34" charset="0"/>
              </a:rPr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C653423B-C8BF-4B5C-8334-7B79D6A36B28}"/>
              </a:ext>
            </a:extLst>
          </p:cNvPr>
          <p:cNvSpPr/>
          <p:nvPr/>
        </p:nvSpPr>
        <p:spPr>
          <a:xfrm>
            <a:off x="7797256" y="3465708"/>
            <a:ext cx="441360" cy="588480"/>
          </a:xfrm>
          <a:prstGeom prst="ellipse">
            <a:avLst/>
          </a:prstGeom>
          <a:solidFill>
            <a:srgbClr val="EF3078"/>
          </a:solidFill>
          <a:ln>
            <a:noFill/>
          </a:ln>
          <a:effectLst>
            <a:outerShdw blurRad="762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93E73AB-E79D-4B7E-849F-8FFE43DAB7A5}"/>
              </a:ext>
            </a:extLst>
          </p:cNvPr>
          <p:cNvSpPr txBox="1"/>
          <p:nvPr/>
        </p:nvSpPr>
        <p:spPr>
          <a:xfrm>
            <a:off x="7874198" y="3436784"/>
            <a:ext cx="287477" cy="646331"/>
          </a:xfrm>
          <a:prstGeom prst="rect">
            <a:avLst/>
          </a:prstGeom>
          <a:noFill/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3E3E3"/>
                </a:solidFill>
                <a:latin typeface="Tw Cen MT" panose="020B0602020104020603" pitchFamily="34" charset="0"/>
              </a:rPr>
              <a:t>6</a:t>
            </a:r>
          </a:p>
        </p:txBody>
      </p:sp>
      <p:grpSp>
        <p:nvGrpSpPr>
          <p:cNvPr id="11" name="Group 95">
            <a:extLst>
              <a:ext uri="{FF2B5EF4-FFF2-40B4-BE49-F238E27FC236}">
                <a16:creationId xmlns="" xmlns:a16="http://schemas.microsoft.com/office/drawing/2014/main" id="{6F425409-A6E4-456C-8ED2-ED38DCFCE2BD}"/>
              </a:ext>
            </a:extLst>
          </p:cNvPr>
          <p:cNvGrpSpPr/>
          <p:nvPr/>
        </p:nvGrpSpPr>
        <p:grpSpPr>
          <a:xfrm>
            <a:off x="283981" y="3501009"/>
            <a:ext cx="1594880" cy="1323439"/>
            <a:chOff x="378640" y="3809602"/>
            <a:chExt cx="2126507" cy="1323439"/>
          </a:xfrm>
        </p:grpSpPr>
        <p:sp>
          <p:nvSpPr>
            <p:cNvPr id="83" name="TextBox 82">
              <a:extLst>
                <a:ext uri="{FF2B5EF4-FFF2-40B4-BE49-F238E27FC236}">
                  <a16:creationId xmlns="" xmlns:a16="http://schemas.microsoft.com/office/drawing/2014/main" id="{A701416C-01EF-4102-89B3-73D5308BF43E}"/>
                </a:ext>
              </a:extLst>
            </p:cNvPr>
            <p:cNvSpPr txBox="1"/>
            <p:nvPr/>
          </p:nvSpPr>
          <p:spPr>
            <a:xfrm>
              <a:off x="378640" y="3809602"/>
              <a:ext cx="212650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PLANNING</a:t>
              </a:r>
            </a:p>
            <a:p>
              <a:pPr algn="ctr"/>
              <a:r>
                <a:rPr lang="en-US" sz="20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AND SETTING UP</a:t>
              </a:r>
            </a:p>
            <a:p>
              <a:pPr algn="ctr"/>
              <a:r>
                <a:rPr lang="en-US" sz="20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OF PROJECT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="" xmlns:a16="http://schemas.microsoft.com/office/drawing/2014/main" id="{8B01F7DF-B788-4309-835E-848C5261CE4F}"/>
                </a:ext>
              </a:extLst>
            </p:cNvPr>
            <p:cNvSpPr txBox="1"/>
            <p:nvPr/>
          </p:nvSpPr>
          <p:spPr>
            <a:xfrm>
              <a:off x="378640" y="4128241"/>
              <a:ext cx="2126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" name="Group 96">
            <a:extLst>
              <a:ext uri="{FF2B5EF4-FFF2-40B4-BE49-F238E27FC236}">
                <a16:creationId xmlns="" xmlns:a16="http://schemas.microsoft.com/office/drawing/2014/main" id="{472C5F62-DBE0-4DB0-A985-67DB45C51121}"/>
              </a:ext>
            </a:extLst>
          </p:cNvPr>
          <p:cNvGrpSpPr/>
          <p:nvPr/>
        </p:nvGrpSpPr>
        <p:grpSpPr>
          <a:xfrm>
            <a:off x="1710895" y="2564906"/>
            <a:ext cx="1594880" cy="1323439"/>
            <a:chOff x="2281192" y="2835528"/>
            <a:chExt cx="2126507" cy="1323439"/>
          </a:xfrm>
        </p:grpSpPr>
        <p:sp>
          <p:nvSpPr>
            <p:cNvPr id="85" name="TextBox 84">
              <a:extLst>
                <a:ext uri="{FF2B5EF4-FFF2-40B4-BE49-F238E27FC236}">
                  <a16:creationId xmlns="" xmlns:a16="http://schemas.microsoft.com/office/drawing/2014/main" id="{9049F1B1-6182-47AB-BECE-2A542878E26D}"/>
                </a:ext>
              </a:extLst>
            </p:cNvPr>
            <p:cNvSpPr txBox="1"/>
            <p:nvPr/>
          </p:nvSpPr>
          <p:spPr>
            <a:xfrm>
              <a:off x="2281192" y="2835528"/>
              <a:ext cx="212650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3A1A4"/>
                  </a:solidFill>
                  <a:latin typeface="Tw Cen MT" panose="020B0602020104020603" pitchFamily="34" charset="0"/>
                </a:rPr>
                <a:t>DATA COLLECTION</a:t>
              </a:r>
            </a:p>
            <a:p>
              <a:pPr algn="ctr"/>
              <a:r>
                <a:rPr lang="en-US" sz="2000" b="1" dirty="0">
                  <a:solidFill>
                    <a:srgbClr val="03A1A4"/>
                  </a:solidFill>
                  <a:latin typeface="Tw Cen MT" panose="020B0602020104020603" pitchFamily="34" charset="0"/>
                </a:rPr>
                <a:t>AND LABELING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="" xmlns:a16="http://schemas.microsoft.com/office/drawing/2014/main" id="{4128FC70-EC87-4505-B103-CC8A34AD5B99}"/>
                </a:ext>
              </a:extLst>
            </p:cNvPr>
            <p:cNvSpPr txBox="1"/>
            <p:nvPr/>
          </p:nvSpPr>
          <p:spPr>
            <a:xfrm>
              <a:off x="2281192" y="3154166"/>
              <a:ext cx="2126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23" name="Group 99">
            <a:extLst>
              <a:ext uri="{FF2B5EF4-FFF2-40B4-BE49-F238E27FC236}">
                <a16:creationId xmlns="" xmlns:a16="http://schemas.microsoft.com/office/drawing/2014/main" id="{19852E6F-3FE7-431F-9ECD-4677790596C6}"/>
              </a:ext>
            </a:extLst>
          </p:cNvPr>
          <p:cNvGrpSpPr/>
          <p:nvPr/>
        </p:nvGrpSpPr>
        <p:grpSpPr>
          <a:xfrm>
            <a:off x="3059833" y="3872065"/>
            <a:ext cx="2016224" cy="707886"/>
            <a:chOff x="4079775" y="3872063"/>
            <a:chExt cx="2688299" cy="707886"/>
          </a:xfrm>
        </p:grpSpPr>
        <p:sp>
          <p:nvSpPr>
            <p:cNvPr id="87" name="TextBox 86">
              <a:extLst>
                <a:ext uri="{FF2B5EF4-FFF2-40B4-BE49-F238E27FC236}">
                  <a16:creationId xmlns="" xmlns:a16="http://schemas.microsoft.com/office/drawing/2014/main" id="{89728CB8-974E-4196-8D1D-89BBEFF54DC9}"/>
                </a:ext>
              </a:extLst>
            </p:cNvPr>
            <p:cNvSpPr txBox="1"/>
            <p:nvPr/>
          </p:nvSpPr>
          <p:spPr>
            <a:xfrm>
              <a:off x="4079775" y="3872063"/>
              <a:ext cx="24255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EE9524"/>
                  </a:solidFill>
                  <a:latin typeface="Tw Cen MT" panose="020B0602020104020603" pitchFamily="34" charset="0"/>
                </a:rPr>
                <a:t>MODEL </a:t>
              </a:r>
            </a:p>
            <a:p>
              <a:pPr algn="ctr"/>
              <a:r>
                <a:rPr lang="en-US" sz="2000" b="1" dirty="0" smtClean="0">
                  <a:solidFill>
                    <a:srgbClr val="EE9524"/>
                  </a:solidFill>
                  <a:latin typeface="Tw Cen MT" panose="020B0602020104020603" pitchFamily="34" charset="0"/>
                </a:rPr>
                <a:t>EXPLORATION</a:t>
              </a:r>
              <a:endParaRPr lang="en-US" sz="2000" b="1" dirty="0">
                <a:solidFill>
                  <a:srgbClr val="EE952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CE4AF30C-47B9-42F2-BAAB-C5E9143AD766}"/>
                </a:ext>
              </a:extLst>
            </p:cNvPr>
            <p:cNvSpPr txBox="1"/>
            <p:nvPr/>
          </p:nvSpPr>
          <p:spPr>
            <a:xfrm>
              <a:off x="4246516" y="4190700"/>
              <a:ext cx="2521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25" name="Group 100">
            <a:extLst>
              <a:ext uri="{FF2B5EF4-FFF2-40B4-BE49-F238E27FC236}">
                <a16:creationId xmlns="" xmlns:a16="http://schemas.microsoft.com/office/drawing/2014/main" id="{8C386432-8509-4BF1-B812-3331BAF7D462}"/>
              </a:ext>
            </a:extLst>
          </p:cNvPr>
          <p:cNvGrpSpPr/>
          <p:nvPr/>
        </p:nvGrpSpPr>
        <p:grpSpPr>
          <a:xfrm>
            <a:off x="4462955" y="2859173"/>
            <a:ext cx="1594880" cy="707886"/>
            <a:chOff x="5943402" y="2692391"/>
            <a:chExt cx="2126507" cy="707886"/>
          </a:xfrm>
        </p:grpSpPr>
        <p:sp>
          <p:nvSpPr>
            <p:cNvPr id="90" name="TextBox 89">
              <a:extLst>
                <a:ext uri="{FF2B5EF4-FFF2-40B4-BE49-F238E27FC236}">
                  <a16:creationId xmlns="" xmlns:a16="http://schemas.microsoft.com/office/drawing/2014/main" id="{267F5442-F4B4-4585-AA2E-C0438857AE3B}"/>
                </a:ext>
              </a:extLst>
            </p:cNvPr>
            <p:cNvSpPr txBox="1"/>
            <p:nvPr/>
          </p:nvSpPr>
          <p:spPr>
            <a:xfrm>
              <a:off x="5943402" y="2692391"/>
              <a:ext cx="21265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385723"/>
                  </a:solidFill>
                  <a:latin typeface="Tw Cen MT" panose="020B0602020104020603" pitchFamily="34" charset="0"/>
                </a:rPr>
                <a:t>MODEL REFINEMENT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="" xmlns:a16="http://schemas.microsoft.com/office/drawing/2014/main" id="{1EFAF46B-A1C3-45A8-A052-22BF454E6E76}"/>
                </a:ext>
              </a:extLst>
            </p:cNvPr>
            <p:cNvSpPr txBox="1"/>
            <p:nvPr/>
          </p:nvSpPr>
          <p:spPr>
            <a:xfrm>
              <a:off x="5943402" y="3011029"/>
              <a:ext cx="2126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26" name="Group 101">
            <a:extLst>
              <a:ext uri="{FF2B5EF4-FFF2-40B4-BE49-F238E27FC236}">
                <a16:creationId xmlns="" xmlns:a16="http://schemas.microsoft.com/office/drawing/2014/main" id="{7E0030E5-ADE8-4236-A8FA-EA49492B9A6A}"/>
              </a:ext>
            </a:extLst>
          </p:cNvPr>
          <p:cNvGrpSpPr/>
          <p:nvPr/>
        </p:nvGrpSpPr>
        <p:grpSpPr>
          <a:xfrm>
            <a:off x="5807116" y="3644887"/>
            <a:ext cx="1594880" cy="707886"/>
            <a:chOff x="7742820" y="3644885"/>
            <a:chExt cx="2126507" cy="707886"/>
          </a:xfrm>
        </p:grpSpPr>
        <p:sp>
          <p:nvSpPr>
            <p:cNvPr id="92" name="TextBox 91">
              <a:extLst>
                <a:ext uri="{FF2B5EF4-FFF2-40B4-BE49-F238E27FC236}">
                  <a16:creationId xmlns="" xmlns:a16="http://schemas.microsoft.com/office/drawing/2014/main" id="{BE5F379D-720A-4873-BF25-F62D2ED92709}"/>
                </a:ext>
              </a:extLst>
            </p:cNvPr>
            <p:cNvSpPr txBox="1"/>
            <p:nvPr/>
          </p:nvSpPr>
          <p:spPr>
            <a:xfrm>
              <a:off x="7742820" y="3644885"/>
              <a:ext cx="21265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F0"/>
                  </a:solidFill>
                  <a:latin typeface="Tw Cen MT" panose="020B0602020104020603" pitchFamily="34" charset="0"/>
                </a:rPr>
                <a:t>TRAINING</a:t>
              </a:r>
            </a:p>
            <a:p>
              <a:pPr algn="ctr"/>
              <a:r>
                <a:rPr lang="en-US" sz="2000" b="1" dirty="0">
                  <a:solidFill>
                    <a:srgbClr val="00B0F0"/>
                  </a:solidFill>
                  <a:latin typeface="Tw Cen MT" panose="020B0602020104020603" pitchFamily="34" charset="0"/>
                </a:rPr>
                <a:t>THE MODEL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="" xmlns:a16="http://schemas.microsoft.com/office/drawing/2014/main" id="{91D0153F-5928-43C9-B3E9-D6A68A61E764}"/>
                </a:ext>
              </a:extLst>
            </p:cNvPr>
            <p:cNvSpPr txBox="1"/>
            <p:nvPr/>
          </p:nvSpPr>
          <p:spPr>
            <a:xfrm>
              <a:off x="7742820" y="3963523"/>
              <a:ext cx="2126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27" name="Group 102">
            <a:extLst>
              <a:ext uri="{FF2B5EF4-FFF2-40B4-BE49-F238E27FC236}">
                <a16:creationId xmlns="" xmlns:a16="http://schemas.microsoft.com/office/drawing/2014/main" id="{D6E832B5-D939-4937-A3AD-85E2622E16FF}"/>
              </a:ext>
            </a:extLst>
          </p:cNvPr>
          <p:cNvGrpSpPr/>
          <p:nvPr/>
        </p:nvGrpSpPr>
        <p:grpSpPr>
          <a:xfrm>
            <a:off x="7215016" y="2456997"/>
            <a:ext cx="1594880" cy="1334302"/>
            <a:chOff x="9620021" y="2456997"/>
            <a:chExt cx="2126507" cy="1334302"/>
          </a:xfrm>
        </p:grpSpPr>
        <p:sp>
          <p:nvSpPr>
            <p:cNvPr id="94" name="TextBox 93">
              <a:extLst>
                <a:ext uri="{FF2B5EF4-FFF2-40B4-BE49-F238E27FC236}">
                  <a16:creationId xmlns="" xmlns:a16="http://schemas.microsoft.com/office/drawing/2014/main" id="{51DAF0F2-B209-49E3-8710-C6751814FE90}"/>
                </a:ext>
              </a:extLst>
            </p:cNvPr>
            <p:cNvSpPr txBox="1"/>
            <p:nvPr/>
          </p:nvSpPr>
          <p:spPr>
            <a:xfrm>
              <a:off x="9620021" y="2456997"/>
              <a:ext cx="2126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000" b="1" dirty="0">
                <a:solidFill>
                  <a:srgbClr val="EF3078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="" xmlns:a16="http://schemas.microsoft.com/office/drawing/2014/main" id="{D6C8A93F-CB4D-469B-8E27-AF0329F80A33}"/>
                </a:ext>
              </a:extLst>
            </p:cNvPr>
            <p:cNvSpPr txBox="1"/>
            <p:nvPr/>
          </p:nvSpPr>
          <p:spPr>
            <a:xfrm>
              <a:off x="9620021" y="2775636"/>
              <a:ext cx="212650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TESTING</a:t>
              </a:r>
            </a:p>
            <a:p>
              <a:pPr algn="ctr"/>
              <a:r>
                <a:rPr lang="en-US" sz="20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THE MODEL</a:t>
              </a:r>
            </a:p>
            <a:p>
              <a:pPr algn="ctr"/>
              <a:endParaRPr lang="en-US" sz="2000" b="1" dirty="0">
                <a:solidFill>
                  <a:srgbClr val="EF3078"/>
                </a:solidFill>
                <a:latin typeface="Tw Cen MT" panose="020B06020201040206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482457687"/>
      </p:ext>
    </p:extLst>
  </p:cSld>
  <p:clrMapOvr>
    <a:masterClrMapping/>
  </p:clrMapOvr>
  <p:transition advClick="0" advTm="4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000"/>
                            </p:stCondLst>
                            <p:childTnLst>
                              <p:par>
                                <p:cTn id="9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0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32656"/>
            <a:ext cx="9144000" cy="15121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Assessment of crop condition by NDVI of satellite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060848"/>
            <a:ext cx="91440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9263" indent="-269875" algn="ctr">
              <a:defRPr/>
            </a:pP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49263" indent="-269875">
              <a:defRPr/>
            </a:pPr>
            <a:endParaRPr lang="en-US" b="1" dirty="0" smtClean="0"/>
          </a:p>
          <a:p>
            <a:pPr marL="449263" indent="-269875">
              <a:buFont typeface="Arial" pitchFamily="34" charset="0"/>
              <a:buChar char="•"/>
              <a:defRPr/>
            </a:pPr>
            <a:r>
              <a:rPr lang="en-US" sz="3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</a:t>
            </a:r>
            <a:r>
              <a:rPr lang="en-US" sz="3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NDVI image value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from satellite image.</a:t>
            </a:r>
          </a:p>
          <a:p>
            <a:pPr marL="449263" indent="-269875">
              <a:buFont typeface="Arial" pitchFamily="34" charset="0"/>
              <a:buChar char="•"/>
              <a:defRPr/>
            </a:pPr>
            <a:r>
              <a:rPr lang="en-IN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Classify</a:t>
            </a:r>
            <a:r>
              <a:rPr lang="en-IN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</a:t>
            </a:r>
            <a:r>
              <a:rPr lang="en-IN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NDVI</a:t>
            </a:r>
            <a:r>
              <a:rPr lang="en-IN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image in </a:t>
            </a:r>
            <a:r>
              <a:rPr lang="en-IN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different</a:t>
            </a:r>
            <a:r>
              <a:rPr lang="en-IN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</a:t>
            </a:r>
            <a:endParaRPr lang="en-US" sz="3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269875">
              <a:buFont typeface="Arial" pitchFamily="34" charset="0"/>
              <a:buChar char="•"/>
              <a:defRPr/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assess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</a:t>
            </a: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crop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</a:t>
            </a:r>
          </a:p>
          <a:p>
            <a:pPr marL="449263" indent="-269875">
              <a:buFont typeface="Arial" pitchFamily="34" charset="0"/>
              <a:buChar char="•"/>
              <a:defRPr/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</a:t>
            </a: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area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covered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by each </a:t>
            </a: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crop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condition.</a:t>
            </a:r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 eaLnBrk="1" hangingPunct="1"/>
            <a:endParaRPr lang="en-US" sz="2000" dirty="0" smtClean="0"/>
          </a:p>
          <a:p>
            <a:pPr algn="ctr" eaLnBrk="1" hangingPunct="1">
              <a:buFontTx/>
              <a:buNone/>
            </a:pPr>
            <a:r>
              <a:rPr lang="en-US" sz="3600" b="1" dirty="0" smtClean="0"/>
              <a:t>Methodology</a:t>
            </a:r>
          </a:p>
          <a:p>
            <a:pPr algn="ctr" eaLnBrk="1" hangingPunct="1">
              <a:buFontTx/>
              <a:buNone/>
            </a:pPr>
            <a:endParaRPr lang="en-US" sz="4000" dirty="0" smtClean="0"/>
          </a:p>
          <a:p>
            <a:pPr algn="ctr" eaLnBrk="1" hangingPunct="1">
              <a:buFontTx/>
              <a:buNone/>
            </a:pPr>
            <a:r>
              <a:rPr lang="en-US" sz="2400" b="1" dirty="0" smtClean="0"/>
              <a:t>1) Calculate NDVI from Satellite image</a:t>
            </a:r>
          </a:p>
          <a:p>
            <a:pPr algn="ctr" eaLnBrk="1" hangingPunct="1"/>
            <a:endParaRPr lang="en-US" sz="2400" dirty="0" smtClean="0"/>
          </a:p>
          <a:p>
            <a:pPr algn="ctr" eaLnBrk="1" hangingPunct="1"/>
            <a:endParaRPr lang="en-US" sz="2400" dirty="0" smtClean="0"/>
          </a:p>
          <a:p>
            <a:pPr algn="ctr" eaLnBrk="1" hangingPunct="1">
              <a:buFontTx/>
              <a:buNone/>
            </a:pPr>
            <a:r>
              <a:rPr lang="en-US" sz="2400" b="1" dirty="0" smtClean="0"/>
              <a:t>2) Classify crop condition by Try and error method on basis of  NDVI value</a:t>
            </a:r>
          </a:p>
          <a:p>
            <a:pPr algn="ctr" eaLnBrk="1" hangingPunct="1"/>
            <a:endParaRPr lang="en-US" sz="2400" b="1" dirty="0" smtClean="0"/>
          </a:p>
          <a:p>
            <a:pPr algn="ctr" eaLnBrk="1" hangingPunct="1"/>
            <a:endParaRPr lang="en-US" sz="2400" b="1" dirty="0" smtClean="0"/>
          </a:p>
          <a:p>
            <a:pPr algn="ctr" eaLnBrk="1" hangingPunct="1">
              <a:buFontTx/>
              <a:buNone/>
            </a:pPr>
            <a:r>
              <a:rPr lang="en-US" sz="2400" b="1" dirty="0" smtClean="0"/>
              <a:t>3) Calculate area under each crop condition</a:t>
            </a:r>
          </a:p>
          <a:p>
            <a:pPr algn="ctr" eaLnBrk="1" hangingPunct="1">
              <a:buFontTx/>
              <a:buNone/>
            </a:pPr>
            <a:r>
              <a:rPr lang="en-IN" sz="2400" b="1" dirty="0" smtClean="0">
                <a:solidFill>
                  <a:schemeClr val="tx2"/>
                </a:solidFill>
              </a:rPr>
              <a:t>(Area = No of pixel * pixel resolution)</a:t>
            </a:r>
            <a:endParaRPr lang="en-US" sz="4800" b="1" dirty="0" smtClean="0">
              <a:solidFill>
                <a:schemeClr val="tx2"/>
              </a:solidFill>
            </a:endParaRPr>
          </a:p>
          <a:p>
            <a:pPr algn="ctr" eaLnBrk="1" hangingPunct="1">
              <a:buFontTx/>
              <a:buNone/>
            </a:pPr>
            <a:endParaRPr lang="en-US" sz="4400" b="1" dirty="0" smtClean="0">
              <a:solidFill>
                <a:schemeClr val="tx2"/>
              </a:solidFill>
            </a:endParaRPr>
          </a:p>
          <a:p>
            <a:pPr algn="ctr" eaLnBrk="1" hangingPunct="1">
              <a:buFontTx/>
              <a:buNone/>
            </a:pPr>
            <a:endParaRPr lang="en-US" sz="4400" b="1" dirty="0" smtClean="0">
              <a:solidFill>
                <a:schemeClr val="tx2"/>
              </a:solidFill>
            </a:endParaRPr>
          </a:p>
        </p:txBody>
      </p:sp>
      <p:sp>
        <p:nvSpPr>
          <p:cNvPr id="5123" name="AutoShape 4"/>
          <p:cNvSpPr>
            <a:spLocks noChangeArrowheads="1"/>
          </p:cNvSpPr>
          <p:nvPr/>
        </p:nvSpPr>
        <p:spPr bwMode="auto">
          <a:xfrm>
            <a:off x="4533900" y="2348880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  <p:sp>
        <p:nvSpPr>
          <p:cNvPr id="5124" name="AutoShape 5"/>
          <p:cNvSpPr>
            <a:spLocks noChangeArrowheads="1"/>
          </p:cNvSpPr>
          <p:nvPr/>
        </p:nvSpPr>
        <p:spPr bwMode="auto">
          <a:xfrm>
            <a:off x="4495800" y="3933056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52736"/>
            <a:ext cx="9144000" cy="5805264"/>
          </a:xfrm>
          <a:ln>
            <a:noFill/>
          </a:ln>
        </p:spPr>
        <p:txBody>
          <a:bodyPr tIns="252000">
            <a:normAutofit/>
          </a:bodyPr>
          <a:lstStyle/>
          <a:p>
            <a:pPr marL="609600" indent="-609600" algn="ctr" eaLnBrk="1" hangingPunct="1">
              <a:buFontTx/>
              <a:buNone/>
            </a:pPr>
            <a:endParaRPr lang="en-US" sz="2000" dirty="0" smtClean="0"/>
          </a:p>
        </p:txBody>
      </p:sp>
      <p:pic>
        <p:nvPicPr>
          <p:cNvPr id="6147" name="Picture 4"/>
          <p:cNvPicPr>
            <a:picLocks noChangeAspect="1" noChangeArrowheads="1"/>
          </p:cNvPicPr>
          <p:nvPr/>
        </p:nvPicPr>
        <p:blipFill>
          <a:blip r:embed="rId2" cstate="print"/>
          <a:srcRect t="2833"/>
          <a:stretch>
            <a:fillRect/>
          </a:stretch>
        </p:blipFill>
        <p:spPr bwMode="auto">
          <a:xfrm>
            <a:off x="259432" y="1268760"/>
            <a:ext cx="6400800" cy="4939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88224" y="2708920"/>
            <a:ext cx="244827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IN" sz="2400" b="1" u="sng" dirty="0"/>
              <a:t>NDVI </a:t>
            </a:r>
            <a:r>
              <a:rPr lang="en-IN" sz="2400" b="1" u="sng" dirty="0" smtClean="0"/>
              <a:t>image</a:t>
            </a:r>
            <a:endParaRPr lang="en-IN" sz="2400" b="1" u="sng" dirty="0"/>
          </a:p>
          <a:p>
            <a:pPr algn="ctr"/>
            <a:r>
              <a:rPr lang="en-IN" sz="2400" dirty="0"/>
              <a:t>Each pixel having a value in range of</a:t>
            </a:r>
          </a:p>
          <a:p>
            <a:pPr algn="ctr"/>
            <a:r>
              <a:rPr lang="en-IN" sz="2400" dirty="0"/>
              <a:t>  </a:t>
            </a:r>
            <a:r>
              <a:rPr lang="en-IN" sz="2400" b="1" dirty="0"/>
              <a:t>-1 to 1 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0" y="33265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 algn="ctr"/>
            <a:r>
              <a:rPr lang="en-US" sz="3600" b="1" dirty="0" smtClean="0"/>
              <a:t>Results</a:t>
            </a:r>
            <a:endParaRPr lang="en-US" sz="2000" dirty="0" smtClean="0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857200"/>
            <a:ext cx="8503928" cy="5740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TextBox 7"/>
          <p:cNvSpPr txBox="1">
            <a:spLocks noChangeArrowheads="1"/>
          </p:cNvSpPr>
          <p:nvPr/>
        </p:nvSpPr>
        <p:spPr bwMode="auto">
          <a:xfrm>
            <a:off x="0" y="200253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IN" sz="3200" b="1" dirty="0">
                <a:cs typeface="Aharoni" pitchFamily="2" charset="-79"/>
              </a:rPr>
              <a:t>Map Representing the crop condition </a:t>
            </a:r>
            <a:endParaRPr lang="en-US" sz="3200" b="1" dirty="0">
              <a:cs typeface="Aharoni" pitchFamily="2" charset="-79"/>
            </a:endParaRPr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447800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Area covered by each crop condition</a:t>
            </a:r>
            <a:endParaRPr lang="en-US" sz="3600" b="1" dirty="0" smtClean="0"/>
          </a:p>
        </p:txBody>
      </p:sp>
      <p:pic>
        <p:nvPicPr>
          <p:cNvPr id="819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544" y="2147889"/>
            <a:ext cx="8639944" cy="333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792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Future work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22648"/>
            <a:ext cx="9144000" cy="4038600"/>
          </a:xfrm>
        </p:spPr>
        <p:txBody>
          <a:bodyPr>
            <a:noAutofit/>
          </a:bodyPr>
          <a:lstStyle/>
          <a:p>
            <a:pPr marL="449263" indent="-269875" eaLnBrk="1" hangingPunct="1">
              <a:lnSpc>
                <a:spcPct val="150000"/>
              </a:lnSpc>
            </a:pPr>
            <a:r>
              <a:rPr lang="en-US" sz="2800" dirty="0" smtClean="0"/>
              <a:t>In case of any </a:t>
            </a:r>
            <a:r>
              <a:rPr lang="en-US" sz="2800" b="1" dirty="0" smtClean="0"/>
              <a:t>natural calamities</a:t>
            </a:r>
            <a:r>
              <a:rPr lang="en-US" sz="2800" dirty="0" smtClean="0"/>
              <a:t>, farmers can be </a:t>
            </a:r>
            <a:r>
              <a:rPr lang="en-US" sz="2800" b="1" dirty="0" smtClean="0"/>
              <a:t>reimbursement</a:t>
            </a:r>
            <a:r>
              <a:rPr lang="en-US" sz="2800" dirty="0" smtClean="0"/>
              <a:t> with </a:t>
            </a:r>
            <a:r>
              <a:rPr lang="en-US" sz="2800" dirty="0" smtClean="0"/>
              <a:t>actual amount/proportion of damage.</a:t>
            </a:r>
          </a:p>
          <a:p>
            <a:pPr marL="449263" indent="-269875" eaLnBrk="1" hangingPunct="1">
              <a:lnSpc>
                <a:spcPct val="150000"/>
              </a:lnSpc>
            </a:pPr>
            <a:r>
              <a:rPr lang="en-US" sz="2800" b="1" dirty="0" smtClean="0"/>
              <a:t>Fast</a:t>
            </a:r>
            <a:r>
              <a:rPr lang="en-US" sz="2800" dirty="0" smtClean="0"/>
              <a:t> and </a:t>
            </a:r>
            <a:r>
              <a:rPr lang="en-US" sz="2800" b="1" dirty="0" smtClean="0"/>
              <a:t>transparency</a:t>
            </a:r>
            <a:r>
              <a:rPr lang="en-US" sz="2800" dirty="0" smtClean="0"/>
              <a:t> </a:t>
            </a:r>
            <a:r>
              <a:rPr lang="en-US" sz="2800" dirty="0" smtClean="0"/>
              <a:t>in farmer’s claim </a:t>
            </a:r>
            <a:r>
              <a:rPr lang="en-US" sz="2800" dirty="0" smtClean="0"/>
              <a:t>reimbursement.</a:t>
            </a:r>
            <a:endParaRPr lang="en-US" sz="2800" dirty="0" smtClean="0"/>
          </a:p>
          <a:p>
            <a:pPr marL="449263" indent="-269875" eaLnBrk="1" hangingPunct="1">
              <a:lnSpc>
                <a:spcPct val="150000"/>
              </a:lnSpc>
            </a:pPr>
            <a:r>
              <a:rPr lang="en-US" sz="2800" dirty="0" smtClean="0"/>
              <a:t>Projection of </a:t>
            </a:r>
            <a:r>
              <a:rPr lang="en-US" sz="2800" b="1" dirty="0" smtClean="0"/>
              <a:t>Crop yield </a:t>
            </a:r>
            <a:r>
              <a:rPr lang="en-US" sz="2800" dirty="0" smtClean="0"/>
              <a:t>and </a:t>
            </a:r>
            <a:r>
              <a:rPr lang="en-US" sz="2800" b="1" dirty="0" smtClean="0"/>
              <a:t>loss</a:t>
            </a:r>
            <a:r>
              <a:rPr lang="en-US" sz="2800" dirty="0" smtClean="0"/>
              <a:t> </a:t>
            </a:r>
            <a:r>
              <a:rPr lang="en-US" sz="2800" b="1" dirty="0" smtClean="0"/>
              <a:t>assessment</a:t>
            </a:r>
            <a:r>
              <a:rPr lang="en-US" sz="2800" dirty="0" smtClean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7D884BCA-1978-49CC-8588-5399D7CABDE7}"/>
              </a:ext>
            </a:extLst>
          </p:cNvPr>
          <p:cNvGrpSpPr/>
          <p:nvPr/>
        </p:nvGrpSpPr>
        <p:grpSpPr>
          <a:xfrm>
            <a:off x="4025695" y="5589240"/>
            <a:ext cx="1049221" cy="190500"/>
            <a:chOff x="4679586" y="878988"/>
            <a:chExt cx="1398961" cy="190500"/>
          </a:xfrm>
        </p:grpSpPr>
        <p:sp>
          <p:nvSpPr>
            <p:cNvPr id="5" name="Oval 4">
              <a:extLst>
                <a:ext uri="{FF2B5EF4-FFF2-40B4-BE49-F238E27FC236}">
                  <a16:creationId xmlns="" xmlns:a16="http://schemas.microsoft.com/office/drawing/2014/main" id="{3701A590-ABA9-4BD2-BD64-376A4C227798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3E53B434-A2A6-4C16-99DD-292CE4FD62C4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F3E5BC96-17A2-4BD5-BA51-10270687E851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1A06ACCC-548D-4873-BD3B-AD3CA2C095B0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CBDE4C1-DAF9-476F-B807-27BE954F6C82}"/>
                </a:ext>
              </a:extLst>
            </p:cNvPr>
            <p:cNvSpPr/>
            <p:nvPr/>
          </p:nvSpPr>
          <p:spPr>
            <a:xfrm>
              <a:off x="5888047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56490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9263" indent="-269875" algn="ctr">
              <a:defRPr/>
            </a:pPr>
            <a:r>
              <a:rPr 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</a:t>
            </a:r>
          </a:p>
          <a:p>
            <a:pPr marL="449263" indent="-269875">
              <a:defRPr/>
            </a:pPr>
            <a:endParaRPr lang="en-US" b="1" dirty="0" smtClean="0"/>
          </a:p>
          <a:p>
            <a:pPr marL="449263" indent="-269875">
              <a:buFont typeface="Arial" pitchFamily="34" charset="0"/>
              <a:buChar char="•"/>
              <a:defRPr/>
            </a:pPr>
            <a:r>
              <a:rPr lang="en-US" sz="3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Prediction of EC(Electrical conductivity) using Soil health card.</a:t>
            </a:r>
          </a:p>
          <a:p>
            <a:pPr marL="449263" indent="-269875">
              <a:buFont typeface="Arial" pitchFamily="34" charset="0"/>
              <a:buChar char="•"/>
              <a:defRPr/>
            </a:pPr>
            <a:r>
              <a:rPr lang="en-IN" sz="3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Developing  of Neural Network. 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6512" y="836712"/>
            <a:ext cx="910748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endParaRPr lang="en-IN" sz="3600" b="1" dirty="0" smtClean="0">
              <a:latin typeface="Aharoni" pitchFamily="2" charset="-79"/>
              <a:cs typeface="Aharoni" pitchFamily="2" charset="-79"/>
            </a:endParaRPr>
          </a:p>
          <a:p>
            <a:pPr algn="ctr">
              <a:spcBef>
                <a:spcPct val="0"/>
              </a:spcBef>
              <a:defRPr/>
            </a:pPr>
            <a:r>
              <a:rPr lang="en-US" altLang="zh-CN" sz="3600" b="1" spc="150" dirty="0" smtClean="0">
                <a:ln w="11430"/>
                <a:solidFill>
                  <a:srgbClr val="FF0000"/>
                </a:solidFill>
                <a:latin typeface="Lato" pitchFamily="34" charset="0"/>
                <a:cs typeface="Andalus" pitchFamily="18" charset="-78"/>
              </a:rPr>
              <a:t>Development of Neural network model to Predict EC</a:t>
            </a:r>
            <a:r>
              <a:rPr lang="en-US" altLang="zh-CN" sz="3600" b="1" dirty="0" smtClean="0">
                <a:solidFill>
                  <a:srgbClr val="FF0000"/>
                </a:solidFill>
                <a:latin typeface="Lato" pitchFamily="34" charset="0"/>
              </a:rPr>
              <a:t> of soil</a:t>
            </a:r>
            <a:endParaRPr lang="en-US" sz="3600" b="1" dirty="0" smtClean="0">
              <a:solidFill>
                <a:srgbClr val="FF0000"/>
              </a:solidFill>
            </a:endParaRPr>
          </a:p>
          <a:p>
            <a:pPr lvl="0" algn="ctr">
              <a:spcBef>
                <a:spcPct val="0"/>
              </a:spcBef>
            </a:pPr>
            <a:endParaRPr lang="en-US" altLang="zh-CN" sz="3600" b="1" cap="none" spc="150" dirty="0" smtClean="0">
              <a:ln w="11430"/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570384"/>
            <a:ext cx="9144000" cy="914400"/>
          </a:xfrm>
          <a:prstGeom prst="rect">
            <a:avLst/>
          </a:prstGeom>
        </p:spPr>
        <p:txBody>
          <a:bodyPr anchor="t" anchorCtr="1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/>
              <a:t>Methodology</a:t>
            </a:r>
            <a:endParaRPr kumimoji="0" lang="en-US" sz="3000" b="0" i="0" u="sng" strike="noStrike" kern="1200" cap="none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71191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/>
            <a:r>
              <a:rPr lang="en-IN" sz="2400" b="1" dirty="0" smtClean="0"/>
              <a:t>1) Extraction data from geo tiff image.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0" y="3615407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smtClean="0"/>
              <a:t>3) Generation of Slope from DEM using QGIS.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0" y="2679303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smtClean="0"/>
              <a:t>2) Splitting of  90%  of data for training and 10% for testing.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0" y="4551511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smtClean="0"/>
              <a:t>4) Neural network model has been developed.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0" y="5559623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smtClean="0"/>
              <a:t>5) With different activation function  model give different accuracy.</a:t>
            </a:r>
            <a:endParaRPr lang="en-US" sz="2400" b="1" dirty="0"/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4355976" y="2132856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4355976" y="3068960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4355976" y="4043536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4355976" y="5013176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03978A-9F43-9F44-B3E1-874E8D620009}"/>
              </a:ext>
            </a:extLst>
          </p:cNvPr>
          <p:cNvSpPr txBox="1">
            <a:spLocks/>
          </p:cNvSpPr>
          <p:nvPr/>
        </p:nvSpPr>
        <p:spPr>
          <a:xfrm>
            <a:off x="0" y="333376"/>
            <a:ext cx="9144000" cy="6572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Result</a:t>
            </a:r>
            <a:endParaRPr kumimoji="0" lang="en-US" sz="3600" b="1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rectole0000000000"/>
          <p:cNvGraphicFramePr>
            <a:graphicFrameLocks noChangeAspect="1"/>
          </p:cNvGraphicFramePr>
          <p:nvPr/>
        </p:nvGraphicFramePr>
        <p:xfrm>
          <a:off x="467544" y="1292160"/>
          <a:ext cx="4991744" cy="2712904"/>
        </p:xfrm>
        <a:graphic>
          <a:graphicData uri="http://schemas.openxmlformats.org/presentationml/2006/ole">
            <p:oleObj spid="_x0000_s14338" name="Picture" r:id="rId3" imgW="4954128" imgH="3391673" progId="StaticDib">
              <p:embed/>
            </p:oleObj>
          </a:graphicData>
        </a:graphic>
      </p:graphicFrame>
      <p:graphicFrame>
        <p:nvGraphicFramePr>
          <p:cNvPr id="4" name="rectole0000000001"/>
          <p:cNvGraphicFramePr>
            <a:graphicFrameLocks noChangeAspect="1"/>
          </p:cNvGraphicFramePr>
          <p:nvPr/>
        </p:nvGraphicFramePr>
        <p:xfrm>
          <a:off x="3779912" y="3861048"/>
          <a:ext cx="5058544" cy="2693396"/>
        </p:xfrm>
        <a:graphic>
          <a:graphicData uri="http://schemas.openxmlformats.org/presentationml/2006/ole">
            <p:oleObj spid="_x0000_s14339" name="Picture" r:id="rId4" imgW="4954128" imgH="3391673" progId="StaticDib">
              <p:embed/>
            </p:oleObj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40A4C93-3F5F-5646-AD3E-CF06D74C7C74}"/>
              </a:ext>
            </a:extLst>
          </p:cNvPr>
          <p:cNvSpPr txBox="1">
            <a:spLocks/>
          </p:cNvSpPr>
          <p:nvPr/>
        </p:nvSpPr>
        <p:spPr>
          <a:xfrm>
            <a:off x="0" y="4437112"/>
            <a:ext cx="3923928" cy="13681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2476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sz="2400" b="1" dirty="0" smtClean="0">
                <a:latin typeface="+mj-lt"/>
              </a:rPr>
              <a:t>By using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Sigmoid as activation function we get 0.0493 MSE.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64088" y="2132856"/>
            <a:ext cx="37799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/>
              <a:t>By using </a:t>
            </a:r>
            <a:r>
              <a:rPr lang="en-US" altLang="zh-CN" sz="2000" b="1" dirty="0" err="1" smtClean="0"/>
              <a:t>Relu</a:t>
            </a:r>
            <a:r>
              <a:rPr lang="en-US" altLang="zh-CN" sz="2000" b="1" dirty="0" smtClean="0"/>
              <a:t> and Sigmoid as activation function we get 0.05 MSE.</a:t>
            </a:r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210701"/>
            <a:ext cx="91440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 smtClean="0"/>
          </a:p>
          <a:p>
            <a:endParaRPr lang="en-US" altLang="zh-CN" dirty="0" smtClean="0"/>
          </a:p>
          <a:p>
            <a:pPr algn="ctr"/>
            <a:r>
              <a:rPr lang="en-US" altLang="zh-CN" sz="3600" b="1" dirty="0" smtClean="0">
                <a:cs typeface="Aharoni" pitchFamily="2" charset="-79"/>
              </a:rPr>
              <a:t>Future scope</a:t>
            </a:r>
          </a:p>
          <a:p>
            <a:endParaRPr lang="en-US" altLang="zh-CN" sz="2000" b="1" dirty="0" smtClean="0"/>
          </a:p>
          <a:p>
            <a:pPr marL="95250">
              <a:buFont typeface="Arial" pitchFamily="34" charset="0"/>
              <a:buChar char="•"/>
            </a:pPr>
            <a:r>
              <a:rPr lang="en-US" altLang="zh-CN" sz="2800" dirty="0" smtClean="0"/>
              <a:t> The weights of respective independent variables generated by program can be used to predict the EC of unknown location.</a:t>
            </a:r>
          </a:p>
          <a:p>
            <a:pPr marL="95250"/>
            <a:endParaRPr lang="en-US" altLang="zh-CN" sz="2800" dirty="0" smtClean="0"/>
          </a:p>
          <a:p>
            <a:pPr marL="95250">
              <a:buFont typeface="Arial" pitchFamily="34" charset="0"/>
              <a:buChar char="•"/>
            </a:pPr>
            <a:r>
              <a:rPr lang="en-IN" altLang="zh-CN" sz="2800" dirty="0"/>
              <a:t> </a:t>
            </a:r>
            <a:r>
              <a:rPr lang="en-IN" altLang="zh-CN" sz="2800" dirty="0" smtClean="0"/>
              <a:t>The EC prediction will help to decide which type of crop can be sown and how much irrigation it would require.</a:t>
            </a:r>
            <a:endParaRPr lang="en-US" altLang="zh-CN" sz="2800" dirty="0" smtClean="0"/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7D884BCA-1978-49CC-8588-5399D7CABDE7}"/>
              </a:ext>
            </a:extLst>
          </p:cNvPr>
          <p:cNvGrpSpPr/>
          <p:nvPr/>
        </p:nvGrpSpPr>
        <p:grpSpPr>
          <a:xfrm>
            <a:off x="4025695" y="5542756"/>
            <a:ext cx="1049221" cy="190500"/>
            <a:chOff x="4679586" y="878988"/>
            <a:chExt cx="1398961" cy="190500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3701A590-ABA9-4BD2-BD64-376A4C227798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3E53B434-A2A6-4C16-99DD-292CE4FD62C4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3E5BC96-17A2-4BD5-BA51-10270687E851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1A06ACCC-548D-4873-BD3B-AD3CA2C095B0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7CBDE4C1-DAF9-476F-B807-27BE954F6C82}"/>
                </a:ext>
              </a:extLst>
            </p:cNvPr>
            <p:cNvSpPr/>
            <p:nvPr/>
          </p:nvSpPr>
          <p:spPr>
            <a:xfrm>
              <a:off x="5888047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56592"/>
            <a:ext cx="9144000" cy="2192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endParaRPr kumimoji="0" lang="en-US" sz="280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2852936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lvl="0" indent="-173038">
              <a:buFont typeface="Arial" pitchFamily="34" charset="0"/>
              <a:buChar char="•"/>
            </a:pPr>
            <a:r>
              <a:rPr lang="en-US" sz="2800" dirty="0" smtClean="0"/>
              <a:t>we want to classify the soil classes and compare results with different supervised classification techniques.</a:t>
            </a:r>
          </a:p>
          <a:p>
            <a:pPr lvl="0"/>
            <a:endParaRPr lang="en-US" sz="2800" dirty="0" smtClean="0"/>
          </a:p>
          <a:p>
            <a:pPr marL="173038" lvl="0" indent="-173038">
              <a:buFont typeface="Arial" pitchFamily="34" charset="0"/>
              <a:buChar char="•"/>
            </a:pPr>
            <a:r>
              <a:rPr lang="en-US" sz="2800" dirty="0" smtClean="0"/>
              <a:t>By classifying  the soil we can know which crops can be sown according to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" y="501060"/>
            <a:ext cx="914400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>
                <a:solidFill>
                  <a:srgbClr val="FF0000"/>
                </a:solidFill>
              </a:rPr>
              <a:t>Soil class classification using different soil properties </a:t>
            </a:r>
          </a:p>
          <a:p>
            <a:pPr lvl="0" algn="ctr">
              <a:spcBef>
                <a:spcPct val="0"/>
              </a:spcBef>
              <a:defRPr/>
            </a:pPr>
            <a:endParaRPr lang="en-IN" sz="1400" b="1" dirty="0" smtClean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78908" y="2052137"/>
            <a:ext cx="19861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9263" indent="-269875" algn="ctr">
              <a:defRPr/>
            </a:pP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</a:t>
            </a:r>
            <a:endParaRPr lang="en-US" sz="2400" b="1" u="sng" dirty="0" smtClean="0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332656"/>
            <a:ext cx="9144000" cy="914400"/>
          </a:xfrm>
          <a:prstGeom prst="rect">
            <a:avLst/>
          </a:prstGeom>
        </p:spPr>
        <p:txBody>
          <a:bodyPr anchor="t" anchorCtr="1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/>
              <a:t>Methodology</a:t>
            </a:r>
            <a:endParaRPr kumimoji="0" lang="en-US" sz="3000" b="0" i="0" u="sng" strike="noStrike" kern="1200" cap="none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-36512" y="1268760"/>
            <a:ext cx="9217024" cy="4431397"/>
            <a:chOff x="-36512" y="1268760"/>
            <a:chExt cx="9217024" cy="4431397"/>
          </a:xfrm>
        </p:grpSpPr>
        <p:sp>
          <p:nvSpPr>
            <p:cNvPr id="6" name="Rectangle 5"/>
            <p:cNvSpPr/>
            <p:nvPr/>
          </p:nvSpPr>
          <p:spPr>
            <a:xfrm>
              <a:off x="0" y="1268760"/>
              <a:ext cx="91440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ctr"/>
              <a:r>
                <a:rPr lang="en-IN" sz="2400" b="1" dirty="0" smtClean="0"/>
                <a:t>1) </a:t>
              </a:r>
              <a:r>
                <a:rPr lang="en-US" sz="2400" b="1" dirty="0" smtClean="0"/>
                <a:t>Data extraction by using python code from shape file.</a:t>
              </a:r>
            </a:p>
            <a:p>
              <a:pPr marL="457200" lvl="0" indent="-457200" algn="ctr"/>
              <a:endParaRPr lang="en-US" sz="2400" b="1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6512" y="2309971"/>
              <a:ext cx="91440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smtClean="0"/>
                <a:t>2) Splitting 35% data for training and 65% data for testing purpose.</a:t>
              </a:r>
            </a:p>
            <a:p>
              <a:pPr lvl="0" algn="ctr"/>
              <a:endParaRPr lang="en-US" sz="2400" b="1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12" y="3501008"/>
              <a:ext cx="91440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2400" b="1" dirty="0" smtClean="0"/>
                <a:t>3) Applying  different supervised classification techniques SVM, NN, 	KNN, Random forest and Decision tree.</a:t>
              </a:r>
              <a:endParaRPr lang="en-US" sz="2400" b="1" dirty="0"/>
            </a:p>
          </p:txBody>
        </p:sp>
        <p:sp>
          <p:nvSpPr>
            <p:cNvPr id="11" name="AutoShape 4"/>
            <p:cNvSpPr>
              <a:spLocks noChangeArrowheads="1"/>
            </p:cNvSpPr>
            <p:nvPr/>
          </p:nvSpPr>
          <p:spPr bwMode="auto">
            <a:xfrm>
              <a:off x="4355976" y="1772816"/>
              <a:ext cx="457200" cy="609600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13" name="AutoShape 4"/>
            <p:cNvSpPr>
              <a:spLocks noChangeArrowheads="1"/>
            </p:cNvSpPr>
            <p:nvPr/>
          </p:nvSpPr>
          <p:spPr bwMode="auto">
            <a:xfrm>
              <a:off x="4355976" y="2852936"/>
              <a:ext cx="457200" cy="609600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14" name="AutoShape 4"/>
            <p:cNvSpPr>
              <a:spLocks noChangeArrowheads="1"/>
            </p:cNvSpPr>
            <p:nvPr/>
          </p:nvSpPr>
          <p:spPr bwMode="auto">
            <a:xfrm>
              <a:off x="4355976" y="4331568"/>
              <a:ext cx="457200" cy="609600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-36512" y="4869160"/>
              <a:ext cx="91440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2400" b="1" dirty="0" smtClean="0"/>
                <a:t>4) Accuracy analysis with confusion matrix for different supervised classification techniques.</a:t>
              </a:r>
            </a:p>
          </p:txBody>
        </p:sp>
      </p:grp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Result</a:t>
            </a:r>
            <a:endParaRPr lang="en-US" sz="36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40768"/>
            <a:ext cx="4343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1321960"/>
            <a:ext cx="4419600" cy="3403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 Placeholder 3"/>
          <p:cNvSpPr>
            <a:spLocks noGrp="1"/>
          </p:cNvSpPr>
          <p:nvPr>
            <p:ph type="body" idx="1"/>
          </p:nvPr>
        </p:nvSpPr>
        <p:spPr>
          <a:xfrm>
            <a:off x="504056" y="4444777"/>
            <a:ext cx="3491880" cy="1360487"/>
          </a:xfrm>
        </p:spPr>
        <p:txBody>
          <a:bodyPr anchor="ctr">
            <a:normAutofit/>
          </a:bodyPr>
          <a:lstStyle/>
          <a:p>
            <a:pPr algn="ctr"/>
            <a:r>
              <a:rPr lang="en-US" dirty="0" smtClean="0"/>
              <a:t>Decision Tree :</a:t>
            </a:r>
            <a:br>
              <a:rPr lang="en-US" dirty="0" smtClean="0"/>
            </a:br>
            <a:r>
              <a:rPr lang="en-US" dirty="0" smtClean="0"/>
              <a:t> Accuracy : 51.56%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6231" y="4581128"/>
            <a:ext cx="3956249" cy="1371601"/>
          </a:xfrm>
        </p:spPr>
        <p:txBody>
          <a:bodyPr anchor="b">
            <a:noAutofit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Random Forest:</a:t>
            </a:r>
            <a:br>
              <a:rPr lang="en-US" dirty="0" smtClean="0"/>
            </a:br>
            <a:r>
              <a:rPr lang="en-US" dirty="0" smtClean="0"/>
              <a:t>Accuracy : 77.13% </a:t>
            </a:r>
          </a:p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99592" y="5733256"/>
            <a:ext cx="25740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SVM:	</a:t>
            </a:r>
            <a:br>
              <a:rPr lang="en-US" sz="2400" b="1" dirty="0" smtClean="0"/>
            </a:br>
            <a:r>
              <a:rPr lang="en-US" sz="2400" b="1" dirty="0" smtClean="0"/>
              <a:t>Accuracy : 72.47%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4088" y="5766355"/>
            <a:ext cx="32221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Neural Network:</a:t>
            </a:r>
            <a:br>
              <a:rPr lang="en-US" sz="2400" b="1" dirty="0" smtClean="0"/>
            </a:br>
            <a:r>
              <a:rPr lang="en-US" sz="2400" b="1" dirty="0" smtClean="0"/>
              <a:t>Accuracy - 70.14% </a:t>
            </a:r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85800"/>
            <a:ext cx="914400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Future Scope</a:t>
            </a:r>
            <a:endParaRPr lang="en-US" sz="36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72816"/>
            <a:ext cx="9144000" cy="2265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can determine the soil classes using different soil properties.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can plan about different plants, trees which can be sown on the particular area according to soil classes.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D884BCA-1978-49CC-8588-5399D7CABDE7}"/>
              </a:ext>
            </a:extLst>
          </p:cNvPr>
          <p:cNvGrpSpPr/>
          <p:nvPr/>
        </p:nvGrpSpPr>
        <p:grpSpPr>
          <a:xfrm>
            <a:off x="4025695" y="4581128"/>
            <a:ext cx="1049221" cy="190500"/>
            <a:chOff x="4679586" y="878988"/>
            <a:chExt cx="1398961" cy="190500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3701A590-ABA9-4BD2-BD64-376A4C227798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3E53B434-A2A6-4C16-99DD-292CE4FD62C4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F3E5BC96-17A2-4BD5-BA51-10270687E851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1A06ACCC-548D-4873-BD3B-AD3CA2C095B0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7CBDE4C1-DAF9-476F-B807-27BE954F6C82}"/>
                </a:ext>
              </a:extLst>
            </p:cNvPr>
            <p:cNvSpPr/>
            <p:nvPr/>
          </p:nvSpPr>
          <p:spPr>
            <a:xfrm>
              <a:off x="5888047" y="878988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0" y="-27384"/>
            <a:ext cx="9144000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endParaRPr lang="en-US" altLang="zh-CN" sz="3500" cap="none" spc="150" dirty="0" smtClean="0">
              <a:ln w="11430"/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764704"/>
            <a:ext cx="9144000" cy="1080119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Development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python</a:t>
            </a: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code for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Yield </a:t>
            </a:r>
            <a:r>
              <a:rPr lang="en-IN" sz="3600" b="1" dirty="0" err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P</a:t>
            </a:r>
            <a:r>
              <a:rPr kumimoji="0" lang="en-IN" sz="3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redection</a:t>
            </a:r>
            <a:r>
              <a:rPr kumimoji="0" lang="en-I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2186735"/>
            <a:ext cx="9144000" cy="954233"/>
          </a:xfrm>
          <a:prstGeom prst="rect">
            <a:avLst/>
          </a:prstGeom>
        </p:spPr>
        <p:txBody>
          <a:bodyPr/>
          <a:lstStyle/>
          <a:p>
            <a:pPr marL="838200" marR="0" lvl="0" indent="-83820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Objective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3079501"/>
            <a:ext cx="9144000" cy="3778499"/>
          </a:xfrm>
          <a:prstGeom prst="rect">
            <a:avLst/>
          </a:prstGeo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have dataset of different weather parameters of past 27 years and meteorological week 44-52 to next year meteorological week 1-11(Rabi season).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By using this dataset we want to build a multiple linear regression model which can predict crop yield.</a:t>
            </a:r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570384"/>
            <a:ext cx="9144000" cy="914400"/>
          </a:xfrm>
          <a:prstGeom prst="rect">
            <a:avLst/>
          </a:prstGeom>
        </p:spPr>
        <p:txBody>
          <a:bodyPr anchor="t" anchorCtr="1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 smtClean="0"/>
              <a:t>Methodology</a:t>
            </a:r>
            <a:endParaRPr kumimoji="0" lang="en-US" sz="3000" b="0" i="0" u="sng" strike="noStrike" kern="1200" cap="none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671191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IN" sz="2400" b="1" dirty="0" smtClean="0"/>
              <a:t>1) </a:t>
            </a:r>
            <a:r>
              <a:rPr lang="en-US" sz="2400" b="1" dirty="0" smtClean="0"/>
              <a:t>We find 56 features by statistical approach</a:t>
            </a:r>
          </a:p>
          <a:p>
            <a:pPr marL="457200" lvl="0" indent="-457200" algn="ctr"/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0" y="402887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3) By, Multiple linear regression we find coefficient and intercept of equation which can predict crop yield. </a:t>
            </a:r>
          </a:p>
          <a:p>
            <a:pPr lvl="0" algn="ctr"/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0" y="267930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 smtClean="0"/>
              <a:t>2) </a:t>
            </a:r>
            <a:r>
              <a:rPr lang="en-US" sz="2400" b="1" dirty="0" smtClean="0"/>
              <a:t>we used top correlated features in multiple linear regression to build yield prediction model. 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0" y="5397023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4) With help of equation we passed current weather parameter and we predicted crop yield. </a:t>
            </a:r>
          </a:p>
          <a:p>
            <a:pPr lvl="0" algn="ctr"/>
            <a:endParaRPr lang="en-US" sz="2400" b="1" dirty="0"/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4355976" y="2132856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4355976" y="3467472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4355976" y="4797152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1" hangingPunct="1"/>
            <a:endParaRPr lang="en-US"/>
          </a:p>
        </p:txBody>
      </p: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Results</a:t>
            </a:r>
            <a:r>
              <a:rPr lang="en-US" smtClean="0"/>
              <a:t> </a:t>
            </a:r>
          </a:p>
        </p:txBody>
      </p:sp>
      <p:pic>
        <p:nvPicPr>
          <p:cNvPr id="7171" name="Picture 5" descr="Capture.PNG"/>
          <p:cNvPicPr>
            <a:picLocks noChangeAspect="1"/>
          </p:cNvPicPr>
          <p:nvPr/>
        </p:nvPicPr>
        <p:blipFill>
          <a:blip r:embed="rId2" cstate="print"/>
          <a:srcRect l="3819" t="7752" r="7586" b="39928"/>
          <a:stretch>
            <a:fillRect/>
          </a:stretch>
        </p:blipFill>
        <p:spPr bwMode="auto">
          <a:xfrm>
            <a:off x="467544" y="1484784"/>
            <a:ext cx="8352928" cy="281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83568" y="4725144"/>
            <a:ext cx="3646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Train data regression result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224614" y="4725144"/>
            <a:ext cx="3523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Test data regression result</a:t>
            </a:r>
            <a:endParaRPr lang="en-US" sz="2400" b="1" dirty="0"/>
          </a:p>
        </p:txBody>
      </p:sp>
      <p:pic>
        <p:nvPicPr>
          <p:cNvPr id="7" name="Picture 6" descr="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8" y="1714488"/>
            <a:ext cx="3786214" cy="2571768"/>
          </a:xfrm>
          <a:prstGeom prst="rect">
            <a:avLst/>
          </a:prstGeom>
        </p:spPr>
      </p:pic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4000"/>
            <a:lum bright="-5000"/>
          </a:blip>
          <a:srcRect/>
          <a:stretch>
            <a:fillRect l="-26000" r="-25000" b="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5072074"/>
            <a:ext cx="9144000" cy="1214446"/>
            <a:chOff x="0" y="3714752"/>
            <a:chExt cx="9144000" cy="1214446"/>
          </a:xfrm>
          <a:solidFill>
            <a:schemeClr val="accent2">
              <a:lumMod val="75000"/>
            </a:schemeClr>
          </a:solidFill>
        </p:grpSpPr>
        <p:sp>
          <p:nvSpPr>
            <p:cNvPr id="3" name="Rectangle 2"/>
            <p:cNvSpPr/>
            <p:nvPr/>
          </p:nvSpPr>
          <p:spPr>
            <a:xfrm>
              <a:off x="0" y="3714752"/>
              <a:ext cx="9144000" cy="121444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143372" y="4059800"/>
              <a:ext cx="5000628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Kozuka Mincho Pro H" pitchFamily="18" charset="-128"/>
                  <a:ea typeface="Kozuka Mincho Pro H" pitchFamily="18" charset="-128"/>
                </a:rPr>
                <a:t>THANK YOU</a:t>
              </a:r>
              <a:endPara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Kozuka Mincho Pro H" pitchFamily="18" charset="-128"/>
                <a:ea typeface="Kozuka Mincho Pro H" pitchFamily="18" charset="-128"/>
              </a:endParaRPr>
            </a:p>
          </p:txBody>
        </p:sp>
      </p:grpSp>
    </p:spTree>
  </p:cSld>
  <p:clrMapOvr>
    <a:masterClrMapping/>
  </p:clrMapOvr>
  <p:transition advClick="0" advTm="4000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707</Words>
  <Application>Microsoft Office PowerPoint</Application>
  <PresentationFormat>On-screen Show (4:3)</PresentationFormat>
  <Paragraphs>136</Paragraphs>
  <Slides>28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Office Theme</vt:lpstr>
      <vt:lpstr>Picture</vt:lpstr>
      <vt:lpstr>MACHINE LEARNING &amp; ARTIFICIAL INTELLIGENCE</vt:lpstr>
      <vt:lpstr>Slide 2</vt:lpstr>
      <vt:lpstr>Slide 3</vt:lpstr>
      <vt:lpstr>Application</vt:lpstr>
      <vt:lpstr>Slide 5</vt:lpstr>
      <vt:lpstr>Slide 6</vt:lpstr>
      <vt:lpstr>Slide 7</vt:lpstr>
      <vt:lpstr>Slide 8</vt:lpstr>
      <vt:lpstr>Practical projects based on Artificial Intelligence  which are made by students of </vt:lpstr>
      <vt:lpstr>Slide 10</vt:lpstr>
      <vt:lpstr>Slide 11</vt:lpstr>
      <vt:lpstr>Slide 12</vt:lpstr>
      <vt:lpstr>Slide 13</vt:lpstr>
      <vt:lpstr>Slide 14</vt:lpstr>
      <vt:lpstr>Area covered by each crop condition</vt:lpstr>
      <vt:lpstr>Future work</vt:lpstr>
      <vt:lpstr>Slide 17</vt:lpstr>
      <vt:lpstr>Slide 18</vt:lpstr>
      <vt:lpstr>Slide 19</vt:lpstr>
      <vt:lpstr>Slide 20</vt:lpstr>
      <vt:lpstr>Slide 21</vt:lpstr>
      <vt:lpstr>Slide 22</vt:lpstr>
      <vt:lpstr>Result</vt:lpstr>
      <vt:lpstr>Future Scope</vt:lpstr>
      <vt:lpstr>Slide 25</vt:lpstr>
      <vt:lpstr>Slide 26</vt:lpstr>
      <vt:lpstr>Results 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ABCD</dc:creator>
  <cp:lastModifiedBy>Windows User</cp:lastModifiedBy>
  <cp:revision>64</cp:revision>
  <dcterms:created xsi:type="dcterms:W3CDTF">2019-09-13T17:21:27Z</dcterms:created>
  <dcterms:modified xsi:type="dcterms:W3CDTF">2019-09-14T10:29:37Z</dcterms:modified>
</cp:coreProperties>
</file>